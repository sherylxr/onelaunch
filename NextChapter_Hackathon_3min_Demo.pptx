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Last year, thousands of experienced Singapore professionals were retrenched. They have decades of skill — and no idea what to do with it. This is Sarah. 48, operations manager, 16 years, made redundant in May. Watch what happens in the next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0:20–1:50
Sarah pastes her CV. NextChapter asks what her CV can’t say. Answer q1, paste the tart answer at q7. She bakes 40 tins of pineapple tarts every Chinese New Year, run like a production line. Her CV never mentions it. Energy map: it finds a hidden strength — she designs systems instinctively. Directions: it gives three scored directions. The agent recommends the safe consultancy. Sarah picks the one that fits her deeper. The human decides — that’s the design. Verdict: Then it does something rare: it’s honest. Amber. S$18–48k year one, here’s the actual math. It will tell you not to start. Finale: And it builds her company. Live website, deployed. That’s real — scan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1:50–2:15
That’s one person. Here’s the room. Scan this — NextChapter will find your hidden strengths in the next two minutes. You don’t have to start a company today. But you should know what you’re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Six agents, chained. Discovery grounded in real career psychology — flow, self-determination theory, Holland codes. And an honesty engine that would rather lose you than lie to you. Everyone builds hype. We built a partner that tells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2:35–2:55
Free map, paid launch, and a B2B channel — outplacement firms and e2i pay per head to help people transition. Today it launches your company. Tomorrow it’s the partner that remembers every decision and grows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2:55–3:00
We don’t build tools for one-person companies. We build the companies. I’m Sheryl — I built this solo, in two days, with Claude Code. NextChapter.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02920" y="384048"/>
            <a:ext cx="292608" cy="292608"/>
          </a:xfrm>
          <a:prstGeom prst="rect">
            <a:avLst/>
          </a:prstGeom>
        </p:spPr>
      </p:pic>
      <p:sp>
        <p:nvSpPr>
          <p:cNvPr id="3" name="Text 0"/>
          <p:cNvSpPr/>
          <p:nvPr/>
        </p:nvSpPr>
        <p:spPr>
          <a:xfrm>
            <a:off x="868680" y="429768"/>
            <a:ext cx="2011680" cy="228600"/>
          </a:xfrm>
          <a:prstGeom prst="rect">
            <a:avLst/>
          </a:prstGeom>
          <a:noFill/>
          <a:ln/>
        </p:spPr>
        <p:txBody>
          <a:bodyPr wrap="square" lIns="254" tIns="254" rIns="254" bIns="254" rtlCol="0" anchor="ctr">
            <a:normAutofit/>
          </a:bodyPr>
          <a:lstStyle/>
          <a:p>
            <a:pPr indent="0" marL="0">
              <a:buNone/>
            </a:pPr>
            <a:r>
              <a:rPr lang="en-US" sz="1700" b="1" dirty="0">
                <a:solidFill>
                  <a:srgbClr val="F7F3EA"/>
                </a:solidFill>
                <a:latin typeface="Aptos Display" pitchFamily="34" charset="0"/>
                <a:ea typeface="Aptos Display" pitchFamily="34" charset="-122"/>
                <a:cs typeface="Aptos Display" pitchFamily="34" charset="-120"/>
              </a:rPr>
              <a:t>NextChapter</a:t>
            </a:r>
            <a:endParaRPr lang="en-US" sz="1700" dirty="0"/>
          </a:p>
        </p:txBody>
      </p:sp>
      <p:pic>
        <p:nvPicPr>
          <p:cNvPr id="4" name="Image 1" descr="/mnt/data/a_dramatic_fantasy_space_inspired_digital_illustra.png">    </p:cNvPr>
          <p:cNvPicPr>
            <a:picLocks noChangeAspect="1"/>
          </p:cNvPicPr>
          <p:nvPr/>
        </p:nvPicPr>
        <p:blipFill>
          <a:blip r:embed="rId2"/>
          <a:srcRect l="22316" r="22316" t="0" b="0"/>
          <a:stretch/>
        </p:blipFill>
        <p:spPr>
          <a:xfrm>
            <a:off x="7040880" y="548640"/>
            <a:ext cx="4480560" cy="5394960"/>
          </a:xfrm>
          <a:prstGeom prst="rect">
            <a:avLst/>
          </a:prstGeom>
        </p:spPr>
      </p:pic>
      <p:sp>
        <p:nvSpPr>
          <p:cNvPr id="5" name="Text 1"/>
          <p:cNvSpPr/>
          <p:nvPr/>
        </p:nvSpPr>
        <p:spPr>
          <a:xfrm>
            <a:off x="566928" y="1353312"/>
            <a:ext cx="5989320" cy="1600200"/>
          </a:xfrm>
          <a:prstGeom prst="rect">
            <a:avLst/>
          </a:prstGeom>
          <a:noFill/>
          <a:ln/>
        </p:spPr>
        <p:txBody>
          <a:bodyPr wrap="square" lIns="254" tIns="254" rIns="254" bIns="254" rtlCol="0" anchor="ctr">
            <a:normAutofit/>
          </a:bodyPr>
          <a:lstStyle/>
          <a:p>
            <a:pPr indent="0" marL="0">
              <a:buNone/>
            </a:pPr>
            <a:r>
              <a:rPr lang="en-US" sz="4300" b="1" dirty="0">
                <a:solidFill>
                  <a:srgbClr val="F7F3EA"/>
                </a:solidFill>
                <a:latin typeface="Aptos Display" pitchFamily="34" charset="0"/>
                <a:ea typeface="Aptos Display" pitchFamily="34" charset="-122"/>
                <a:cs typeface="Aptos Display" pitchFamily="34" charset="-120"/>
              </a:rPr>
              <a:t>Last year, thousands of Singapore PMETs were made redundant.</a:t>
            </a:r>
            <a:endParaRPr lang="en-US" sz="4300" dirty="0"/>
          </a:p>
        </p:txBody>
      </p:sp>
      <p:sp>
        <p:nvSpPr>
          <p:cNvPr id="6" name="Text 2"/>
          <p:cNvSpPr/>
          <p:nvPr/>
        </p:nvSpPr>
        <p:spPr>
          <a:xfrm>
            <a:off x="603504" y="3355848"/>
            <a:ext cx="4937760" cy="685800"/>
          </a:xfrm>
          <a:prstGeom prst="rect">
            <a:avLst/>
          </a:prstGeom>
          <a:noFill/>
          <a:ln/>
        </p:spPr>
        <p:txBody>
          <a:bodyPr wrap="square" lIns="254" tIns="254" rIns="254" bIns="254" rtlCol="0" anchor="ctr">
            <a:normAutofit/>
          </a:bodyPr>
          <a:lstStyle/>
          <a:p>
            <a:pPr indent="0" marL="0">
              <a:buNone/>
            </a:pPr>
            <a:r>
              <a:rPr lang="en-US" sz="2200" dirty="0">
                <a:solidFill>
                  <a:srgbClr val="A9B0BD"/>
                </a:solidFill>
                <a:latin typeface="Aptos" pitchFamily="34" charset="0"/>
                <a:ea typeface="Aptos" pitchFamily="34" charset="-122"/>
                <a:cs typeface="Aptos" pitchFamily="34" charset="-120"/>
              </a:rPr>
              <a:t>Decades of skill.</a:t>
            </a:r>
            <a:endParaRPr lang="en-US" sz="2200" dirty="0"/>
          </a:p>
          <a:p>
            <a:pPr indent="0" marL="0">
              <a:buNone/>
            </a:pPr>
            <a:r>
              <a:rPr lang="en-US" sz="2200" dirty="0">
                <a:solidFill>
                  <a:srgbClr val="A9B0BD"/>
                </a:solidFill>
                <a:latin typeface="Aptos" pitchFamily="34" charset="0"/>
                <a:ea typeface="Aptos" pitchFamily="34" charset="-122"/>
                <a:cs typeface="Aptos" pitchFamily="34" charset="-120"/>
              </a:rPr>
              <a:t>No clear next step.</a:t>
            </a:r>
            <a:endParaRPr lang="en-US" sz="2200" dirty="0"/>
          </a:p>
        </p:txBody>
      </p:sp>
      <p:sp>
        <p:nvSpPr>
          <p:cNvPr id="7" name="Text 3"/>
          <p:cNvSpPr/>
          <p:nvPr/>
        </p:nvSpPr>
        <p:spPr>
          <a:xfrm>
            <a:off x="621792" y="4572000"/>
            <a:ext cx="1280160" cy="237744"/>
          </a:xfrm>
          <a:prstGeom prst="rect">
            <a:avLst/>
          </a:prstGeom>
          <a:noFill/>
          <a:ln/>
        </p:spPr>
        <p:txBody>
          <a:bodyPr wrap="square" lIns="254" tIns="254" rIns="254" bIns="254" rtlCol="0" anchor="ctr">
            <a:normAutofit/>
          </a:bodyPr>
          <a:lstStyle/>
          <a:p>
            <a:pPr indent="0" marL="0">
              <a:buNone/>
            </a:pPr>
            <a:r>
              <a:rPr lang="en-US" sz="1400" b="1" dirty="0">
                <a:solidFill>
                  <a:srgbClr val="F5B94C"/>
                </a:solidFill>
                <a:latin typeface="Aptos" pitchFamily="34" charset="0"/>
                <a:ea typeface="Aptos" pitchFamily="34" charset="-122"/>
                <a:cs typeface="Aptos" pitchFamily="34" charset="-120"/>
              </a:rPr>
              <a:t>Meet Sarah</a:t>
            </a:r>
            <a:endParaRPr lang="en-US" sz="1400" dirty="0"/>
          </a:p>
        </p:txBody>
      </p:sp>
      <p:sp>
        <p:nvSpPr>
          <p:cNvPr id="8" name="Text 4"/>
          <p:cNvSpPr/>
          <p:nvPr/>
        </p:nvSpPr>
        <p:spPr>
          <a:xfrm>
            <a:off x="621792" y="4901184"/>
            <a:ext cx="5303520" cy="228600"/>
          </a:xfrm>
          <a:prstGeom prst="rect">
            <a:avLst/>
          </a:prstGeom>
          <a:noFill/>
          <a:ln/>
        </p:spPr>
        <p:txBody>
          <a:bodyPr wrap="square" lIns="254" tIns="254" rIns="254" bIns="254" rtlCol="0" anchor="ctr">
            <a:normAutofit/>
          </a:bodyPr>
          <a:lstStyle/>
          <a:p>
            <a:pPr indent="0" marL="0">
              <a:buNone/>
            </a:pPr>
            <a:r>
              <a:rPr lang="en-US" sz="1500" dirty="0">
                <a:solidFill>
                  <a:srgbClr val="F7F3EA"/>
                </a:solidFill>
                <a:latin typeface="Aptos" pitchFamily="34" charset="0"/>
                <a:ea typeface="Aptos" pitchFamily="34" charset="-122"/>
                <a:cs typeface="Aptos" pitchFamily="34" charset="-120"/>
              </a:rPr>
              <a:t>48 • Operations Manager • 16 years • Made redundant in May</a:t>
            </a:r>
            <a:endParaRPr lang="en-US" sz="1500" dirty="0"/>
          </a:p>
        </p:txBody>
      </p:sp>
      <p:sp>
        <p:nvSpPr>
          <p:cNvPr id="9" name="Text 5"/>
          <p:cNvSpPr/>
          <p:nvPr/>
        </p:nvSpPr>
        <p:spPr>
          <a:xfrm>
            <a:off x="621792" y="5742432"/>
            <a:ext cx="4937760" cy="274320"/>
          </a:xfrm>
          <a:prstGeom prst="rect">
            <a:avLst/>
          </a:prstGeom>
          <a:noFill/>
          <a:ln/>
        </p:spPr>
        <p:txBody>
          <a:bodyPr wrap="square" lIns="254" tIns="254" rIns="254" bIns="254" rtlCol="0" anchor="ctr">
            <a:normAutofit/>
          </a:bodyPr>
          <a:lstStyle/>
          <a:p>
            <a:pPr indent="0" marL="0">
              <a:buNone/>
            </a:pPr>
            <a:r>
              <a:rPr lang="en-US" sz="1500" i="1" dirty="0">
                <a:solidFill>
                  <a:srgbClr val="F5B94C"/>
                </a:solidFill>
                <a:latin typeface="Aptos" pitchFamily="34" charset="0"/>
                <a:ea typeface="Aptos" pitchFamily="34" charset="-122"/>
                <a:cs typeface="Aptos" pitchFamily="34" charset="-120"/>
              </a:rPr>
              <a:t>Watch what happens in the next 90 seconds.</a:t>
            </a:r>
            <a:endParaRPr lang="en-US" sz="1500" dirty="0"/>
          </a:p>
        </p:txBody>
      </p:sp>
      <p:sp>
        <p:nvSpPr>
          <p:cNvPr id="10" name="Text 6"/>
          <p:cNvSpPr/>
          <p:nvPr/>
        </p:nvSpPr>
        <p:spPr>
          <a:xfrm>
            <a:off x="9418320" y="6473952"/>
            <a:ext cx="2240280" cy="164592"/>
          </a:xfrm>
          <a:prstGeom prst="rect">
            <a:avLst/>
          </a:prstGeom>
          <a:noFill/>
          <a:ln/>
        </p:spPr>
        <p:txBody>
          <a:bodyPr wrap="square" lIns="254" tIns="254" rIns="254" bIns="254" rtlCol="0" anchor="ctr">
            <a:normAutofit/>
          </a:bodyPr>
          <a:lstStyle/>
          <a:p>
            <a:pPr algn="r" indent="0" marL="0">
              <a:buNone/>
            </a:pPr>
            <a:r>
              <a:rPr lang="en-US" sz="800" dirty="0">
                <a:solidFill>
                  <a:srgbClr val="6E7789"/>
                </a:solidFill>
                <a:latin typeface="Aptos" pitchFamily="34" charset="0"/>
                <a:ea typeface="Aptos" pitchFamily="34" charset="-122"/>
                <a:cs typeface="Aptos" pitchFamily="34" charset="-120"/>
              </a:rPr>
              <a:t>OpenArena • Track 05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02920" y="384048"/>
            <a:ext cx="292608" cy="292608"/>
          </a:xfrm>
          <a:prstGeom prst="rect">
            <a:avLst/>
          </a:prstGeom>
        </p:spPr>
      </p:pic>
      <p:sp>
        <p:nvSpPr>
          <p:cNvPr id="3" name="Text 0"/>
          <p:cNvSpPr/>
          <p:nvPr/>
        </p:nvSpPr>
        <p:spPr>
          <a:xfrm>
            <a:off x="868680" y="429768"/>
            <a:ext cx="2011680" cy="228600"/>
          </a:xfrm>
          <a:prstGeom prst="rect">
            <a:avLst/>
          </a:prstGeom>
          <a:noFill/>
          <a:ln/>
        </p:spPr>
        <p:txBody>
          <a:bodyPr wrap="square" lIns="254" tIns="254" rIns="254" bIns="254" rtlCol="0" anchor="ctr">
            <a:normAutofit/>
          </a:bodyPr>
          <a:lstStyle/>
          <a:p>
            <a:pPr indent="0" marL="0">
              <a:buNone/>
            </a:pPr>
            <a:r>
              <a:rPr lang="en-US" sz="1700" b="1" dirty="0">
                <a:solidFill>
                  <a:srgbClr val="F7F3EA"/>
                </a:solidFill>
                <a:latin typeface="Aptos Display" pitchFamily="34" charset="0"/>
                <a:ea typeface="Aptos Display" pitchFamily="34" charset="-122"/>
                <a:cs typeface="Aptos Display" pitchFamily="34" charset="-120"/>
              </a:rPr>
              <a:t>NextChapter</a:t>
            </a:r>
            <a:endParaRPr lang="en-US" sz="1700" dirty="0"/>
          </a:p>
        </p:txBody>
      </p:sp>
      <p:sp>
        <p:nvSpPr>
          <p:cNvPr id="4" name="Text 1"/>
          <p:cNvSpPr/>
          <p:nvPr/>
        </p:nvSpPr>
        <p:spPr>
          <a:xfrm>
            <a:off x="594360" y="1005840"/>
            <a:ext cx="3383280" cy="457200"/>
          </a:xfrm>
          <a:prstGeom prst="rect">
            <a:avLst/>
          </a:prstGeom>
          <a:noFill/>
          <a:ln/>
        </p:spPr>
        <p:txBody>
          <a:bodyPr wrap="square" lIns="254" tIns="254" rIns="254" bIns="254" rtlCol="0" anchor="ctr">
            <a:normAutofit/>
          </a:bodyPr>
          <a:lstStyle/>
          <a:p>
            <a:pPr indent="0" marL="0">
              <a:buNone/>
            </a:pPr>
            <a:r>
              <a:rPr lang="en-US" sz="3400" b="1" dirty="0">
                <a:solidFill>
                  <a:srgbClr val="F7F3EA"/>
                </a:solidFill>
                <a:latin typeface="Aptos Display" pitchFamily="34" charset="0"/>
                <a:ea typeface="Aptos Display" pitchFamily="34" charset="-122"/>
                <a:cs typeface="Aptos Display" pitchFamily="34" charset="-120"/>
              </a:rPr>
              <a:t>LIVE DEMO</a:t>
            </a:r>
            <a:endParaRPr lang="en-US" sz="3400" dirty="0"/>
          </a:p>
        </p:txBody>
      </p:sp>
      <p:sp>
        <p:nvSpPr>
          <p:cNvPr id="5" name="Text 2"/>
          <p:cNvSpPr/>
          <p:nvPr/>
        </p:nvSpPr>
        <p:spPr>
          <a:xfrm>
            <a:off x="621792" y="1682496"/>
            <a:ext cx="3657600" cy="777240"/>
          </a:xfrm>
          <a:prstGeom prst="rect">
            <a:avLst/>
          </a:prstGeom>
          <a:noFill/>
          <a:ln/>
        </p:spPr>
        <p:txBody>
          <a:bodyPr wrap="square" lIns="254" tIns="254" rIns="254" bIns="254" rtlCol="0" anchor="ctr">
            <a:normAutofit/>
          </a:bodyPr>
          <a:lstStyle/>
          <a:p>
            <a:pPr indent="0" marL="0">
              <a:buNone/>
            </a:pPr>
            <a:r>
              <a:rPr lang="en-US" sz="1500" dirty="0">
                <a:solidFill>
                  <a:srgbClr val="A9B0BD"/>
                </a:solidFill>
                <a:latin typeface="Aptos" pitchFamily="34" charset="0"/>
                <a:ea typeface="Aptos" pitchFamily="34" charset="-122"/>
                <a:cs typeface="Aptos" pitchFamily="34" charset="-120"/>
              </a:rPr>
              <a:t>Switch to the app. Show the pipeline: CV → discovery → energy map → directions → honest verdict → live site.</a:t>
            </a:r>
            <a:endParaRPr lang="en-US" sz="1500" dirty="0"/>
          </a:p>
        </p:txBody>
      </p:sp>
      <p:pic>
        <p:nvPicPr>
          <p:cNvPr id="6" name="Image 1" descr="/mnt/data/5103C42A-D49E-456F-AFB1-D0DEA59D1379.jpeg">    </p:cNvPr>
          <p:cNvPicPr>
            <a:picLocks noChangeAspect="1"/>
          </p:cNvPicPr>
          <p:nvPr/>
        </p:nvPicPr>
        <p:blipFill>
          <a:blip r:embed="rId2"/>
          <a:srcRect l="9277" r="9277" t="0" b="0"/>
          <a:stretch/>
        </p:blipFill>
        <p:spPr>
          <a:xfrm>
            <a:off x="4617720" y="594360"/>
            <a:ext cx="6903720" cy="5650992"/>
          </a:xfrm>
          <a:prstGeom prst="rect">
            <a:avLst/>
          </a:prstGeom>
        </p:spPr>
      </p:pic>
      <p:sp>
        <p:nvSpPr>
          <p:cNvPr id="7" name="Text 3"/>
          <p:cNvSpPr/>
          <p:nvPr/>
        </p:nvSpPr>
        <p:spPr>
          <a:xfrm>
            <a:off x="640080" y="3291840"/>
            <a:ext cx="3200400" cy="256032"/>
          </a:xfrm>
          <a:prstGeom prst="rect">
            <a:avLst/>
          </a:prstGeom>
          <a:noFill/>
          <a:ln/>
        </p:spPr>
        <p:txBody>
          <a:bodyPr wrap="square" lIns="254" tIns="254" rIns="254" bIns="254" rtlCol="0" anchor="ctr">
            <a:normAutofit/>
          </a:bodyPr>
          <a:lstStyle/>
          <a:p>
            <a:pPr indent="0" marL="0">
              <a:buNone/>
            </a:pPr>
            <a:r>
              <a:rPr lang="en-US" sz="2000" b="1" dirty="0">
                <a:solidFill>
                  <a:srgbClr val="2F5AF5"/>
                </a:solidFill>
                <a:latin typeface="Aptos" pitchFamily="34" charset="0"/>
                <a:ea typeface="Aptos" pitchFamily="34" charset="-122"/>
                <a:cs typeface="Aptos" pitchFamily="34" charset="-120"/>
              </a:rPr>
              <a:t>The human decides.</a:t>
            </a:r>
            <a:endParaRPr lang="en-US" sz="2000" dirty="0"/>
          </a:p>
        </p:txBody>
      </p:sp>
      <p:sp>
        <p:nvSpPr>
          <p:cNvPr id="8" name="Text 4"/>
          <p:cNvSpPr/>
          <p:nvPr/>
        </p:nvSpPr>
        <p:spPr>
          <a:xfrm>
            <a:off x="640080" y="3858768"/>
            <a:ext cx="3246120" cy="256032"/>
          </a:xfrm>
          <a:prstGeom prst="rect">
            <a:avLst/>
          </a:prstGeom>
          <a:noFill/>
          <a:ln/>
        </p:spPr>
        <p:txBody>
          <a:bodyPr wrap="square" lIns="254" tIns="254" rIns="254" bIns="254" rtlCol="0" anchor="ctr">
            <a:normAutofit/>
          </a:bodyPr>
          <a:lstStyle/>
          <a:p>
            <a:pPr indent="0" marL="0">
              <a:buNone/>
            </a:pPr>
            <a:r>
              <a:rPr lang="en-US" sz="2000" b="1" dirty="0">
                <a:solidFill>
                  <a:srgbClr val="F5B94C"/>
                </a:solidFill>
                <a:latin typeface="Aptos" pitchFamily="34" charset="0"/>
                <a:ea typeface="Aptos" pitchFamily="34" charset="-122"/>
                <a:cs typeface="Aptos" pitchFamily="34" charset="-120"/>
              </a:rPr>
              <a:t>The agent tells the truth.</a:t>
            </a:r>
            <a:endParaRPr lang="en-US" sz="2000" dirty="0"/>
          </a:p>
        </p:txBody>
      </p:sp>
      <p:sp>
        <p:nvSpPr>
          <p:cNvPr id="9" name="Text 5"/>
          <p:cNvSpPr/>
          <p:nvPr/>
        </p:nvSpPr>
        <p:spPr>
          <a:xfrm>
            <a:off x="658368" y="5989320"/>
            <a:ext cx="2926080" cy="182880"/>
          </a:xfrm>
          <a:prstGeom prst="rect">
            <a:avLst/>
          </a:prstGeom>
          <a:noFill/>
          <a:ln/>
        </p:spPr>
        <p:txBody>
          <a:bodyPr wrap="square" lIns="254" tIns="254" rIns="254" bIns="254" rtlCol="0" anchor="ctr">
            <a:normAutofit/>
          </a:bodyPr>
          <a:lstStyle/>
          <a:p>
            <a:pPr indent="0" marL="0">
              <a:buNone/>
            </a:pPr>
            <a:r>
              <a:rPr lang="en-US" sz="1200" i="1" dirty="0">
                <a:solidFill>
                  <a:srgbClr val="F5B94C"/>
                </a:solidFill>
                <a:latin typeface="Aptos" pitchFamily="34" charset="0"/>
                <a:ea typeface="Aptos" pitchFamily="34" charset="-122"/>
                <a:cs typeface="Aptos" pitchFamily="34" charset="-120"/>
              </a:rPr>
              <a:t>Demo beats slides here.</a:t>
            </a:r>
            <a:endParaRPr lang="en-US" sz="1200" dirty="0"/>
          </a:p>
        </p:txBody>
      </p:sp>
      <p:sp>
        <p:nvSpPr>
          <p:cNvPr id="10" name="Text 6"/>
          <p:cNvSpPr/>
          <p:nvPr/>
        </p:nvSpPr>
        <p:spPr>
          <a:xfrm>
            <a:off x="9418320" y="6473952"/>
            <a:ext cx="2240280" cy="164592"/>
          </a:xfrm>
          <a:prstGeom prst="rect">
            <a:avLst/>
          </a:prstGeom>
          <a:noFill/>
          <a:ln/>
        </p:spPr>
        <p:txBody>
          <a:bodyPr wrap="square" lIns="254" tIns="254" rIns="254" bIns="254" rtlCol="0" anchor="ctr">
            <a:normAutofit/>
          </a:bodyPr>
          <a:lstStyle/>
          <a:p>
            <a:pPr algn="r" indent="0" marL="0">
              <a:buNone/>
            </a:pPr>
            <a:r>
              <a:rPr lang="en-US" sz="800" dirty="0">
                <a:solidFill>
                  <a:srgbClr val="6E7789"/>
                </a:solidFill>
                <a:latin typeface="Aptos" pitchFamily="34" charset="0"/>
                <a:ea typeface="Aptos" pitchFamily="34" charset="-122"/>
                <a:cs typeface="Aptos" pitchFamily="34" charset="-120"/>
              </a:rPr>
              <a:t>OpenArena • Track 05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02920" y="384048"/>
            <a:ext cx="292608" cy="292608"/>
          </a:xfrm>
          <a:prstGeom prst="rect">
            <a:avLst/>
          </a:prstGeom>
        </p:spPr>
      </p:pic>
      <p:sp>
        <p:nvSpPr>
          <p:cNvPr id="3" name="Text 0"/>
          <p:cNvSpPr/>
          <p:nvPr/>
        </p:nvSpPr>
        <p:spPr>
          <a:xfrm>
            <a:off x="868680" y="429768"/>
            <a:ext cx="2011680" cy="228600"/>
          </a:xfrm>
          <a:prstGeom prst="rect">
            <a:avLst/>
          </a:prstGeom>
          <a:noFill/>
          <a:ln/>
        </p:spPr>
        <p:txBody>
          <a:bodyPr wrap="square" lIns="254" tIns="254" rIns="254" bIns="254" rtlCol="0" anchor="ctr">
            <a:normAutofit/>
          </a:bodyPr>
          <a:lstStyle/>
          <a:p>
            <a:pPr indent="0" marL="0">
              <a:buNone/>
            </a:pPr>
            <a:r>
              <a:rPr lang="en-US" sz="1700" b="1" dirty="0">
                <a:solidFill>
                  <a:srgbClr val="F7F3EA"/>
                </a:solidFill>
                <a:latin typeface="Aptos Display" pitchFamily="34" charset="0"/>
                <a:ea typeface="Aptos Display" pitchFamily="34" charset="-122"/>
                <a:cs typeface="Aptos Display" pitchFamily="34" charset="-120"/>
              </a:rPr>
              <a:t>NextChapter</a:t>
            </a:r>
            <a:endParaRPr lang="en-US" sz="1700" dirty="0"/>
          </a:p>
        </p:txBody>
      </p:sp>
      <p:sp>
        <p:nvSpPr>
          <p:cNvPr id="4" name="Text 1"/>
          <p:cNvSpPr/>
          <p:nvPr/>
        </p:nvSpPr>
        <p:spPr>
          <a:xfrm>
            <a:off x="685800" y="1371600"/>
            <a:ext cx="4572000" cy="1051560"/>
          </a:xfrm>
          <a:prstGeom prst="rect">
            <a:avLst/>
          </a:prstGeom>
          <a:noFill/>
          <a:ln/>
        </p:spPr>
        <p:txBody>
          <a:bodyPr wrap="square" lIns="254" tIns="254" rIns="254" bIns="254" rtlCol="0" anchor="ctr">
            <a:normAutofit/>
          </a:bodyPr>
          <a:lstStyle/>
          <a:p>
            <a:pPr indent="0" marL="0">
              <a:buNone/>
            </a:pPr>
            <a:r>
              <a:rPr lang="en-US" sz="4400" b="1" dirty="0">
                <a:solidFill>
                  <a:srgbClr val="F7F3EA"/>
                </a:solidFill>
                <a:latin typeface="Aptos Display" pitchFamily="34" charset="0"/>
                <a:ea typeface="Aptos Display" pitchFamily="34" charset="-122"/>
                <a:cs typeface="Aptos Display" pitchFamily="34" charset="-120"/>
              </a:rPr>
              <a:t>Get your own</a:t>
            </a:r>
            <a:endParaRPr lang="en-US" sz="4400" dirty="0"/>
          </a:p>
          <a:p>
            <a:pPr indent="0" marL="0">
              <a:buNone/>
            </a:pPr>
            <a:r>
              <a:rPr lang="en-US" sz="4400" b="1" dirty="0">
                <a:solidFill>
                  <a:srgbClr val="F7F3EA"/>
                </a:solidFill>
                <a:latin typeface="Aptos Display" pitchFamily="34" charset="0"/>
                <a:ea typeface="Aptos Display" pitchFamily="34" charset="-122"/>
                <a:cs typeface="Aptos Display" pitchFamily="34" charset="-120"/>
              </a:rPr>
              <a:t>Strength Map</a:t>
            </a:r>
            <a:endParaRPr lang="en-US" sz="4400" dirty="0"/>
          </a:p>
        </p:txBody>
      </p:sp>
      <p:sp>
        <p:nvSpPr>
          <p:cNvPr id="5" name="Text 2"/>
          <p:cNvSpPr/>
          <p:nvPr/>
        </p:nvSpPr>
        <p:spPr>
          <a:xfrm>
            <a:off x="713232" y="2788920"/>
            <a:ext cx="4892040" cy="594360"/>
          </a:xfrm>
          <a:prstGeom prst="rect">
            <a:avLst/>
          </a:prstGeom>
          <a:noFill/>
          <a:ln/>
        </p:spPr>
        <p:txBody>
          <a:bodyPr wrap="square" lIns="254" tIns="254" rIns="254" bIns="254" rtlCol="0" anchor="ctr">
            <a:normAutofit/>
          </a:bodyPr>
          <a:lstStyle/>
          <a:p>
            <a:pPr indent="0" marL="0">
              <a:buNone/>
            </a:pPr>
            <a:r>
              <a:rPr lang="en-US" sz="1800" dirty="0">
                <a:solidFill>
                  <a:srgbClr val="A9B0BD"/>
                </a:solidFill>
                <a:latin typeface="Aptos" pitchFamily="34" charset="0"/>
                <a:ea typeface="Aptos" pitchFamily="34" charset="-122"/>
                <a:cs typeface="Aptos" pitchFamily="34" charset="-120"/>
              </a:rPr>
              <a:t>Scan now — NextChapter will find your hidden strengths in the next two minutes.</a:t>
            </a:r>
            <a:endParaRPr lang="en-US" sz="1800" dirty="0"/>
          </a:p>
        </p:txBody>
      </p:sp>
      <p:pic>
        <p:nvPicPr>
          <p:cNvPr id="6" name="Image 1" descr="/mnt/data/nextchapter_qr.png">    </p:cNvPr>
          <p:cNvPicPr>
            <a:picLocks noChangeAspect="1"/>
          </p:cNvPicPr>
          <p:nvPr/>
        </p:nvPicPr>
        <p:blipFill>
          <a:blip r:embed="rId2"/>
          <a:stretch>
            <a:fillRect/>
          </a:stretch>
        </p:blipFill>
        <p:spPr>
          <a:xfrm>
            <a:off x="6720840" y="1024128"/>
            <a:ext cx="3886200" cy="3886200"/>
          </a:xfrm>
          <a:prstGeom prst="rect">
            <a:avLst/>
          </a:prstGeom>
        </p:spPr>
      </p:pic>
      <p:sp>
        <p:nvSpPr>
          <p:cNvPr id="7" name="Text 3"/>
          <p:cNvSpPr/>
          <p:nvPr/>
        </p:nvSpPr>
        <p:spPr>
          <a:xfrm>
            <a:off x="6720840" y="5212080"/>
            <a:ext cx="3886200" cy="274320"/>
          </a:xfrm>
          <a:prstGeom prst="rect">
            <a:avLst/>
          </a:prstGeom>
          <a:noFill/>
          <a:ln/>
        </p:spPr>
        <p:txBody>
          <a:bodyPr wrap="square" lIns="254" tIns="254" rIns="254" bIns="254" rtlCol="0" anchor="ctr">
            <a:normAutofit/>
          </a:bodyPr>
          <a:lstStyle/>
          <a:p>
            <a:pPr algn="ctr" indent="0" marL="0">
              <a:buNone/>
            </a:pPr>
            <a:r>
              <a:rPr lang="en-US" sz="1900" b="1" dirty="0">
                <a:solidFill>
                  <a:srgbClr val="F5B94C"/>
                </a:solidFill>
                <a:latin typeface="Aptos" pitchFamily="34" charset="0"/>
                <a:ea typeface="Aptos" pitchFamily="34" charset="-122"/>
                <a:cs typeface="Aptos" pitchFamily="34" charset="-120"/>
              </a:rPr>
              <a:t>nextchapter.ai</a:t>
            </a:r>
            <a:endParaRPr lang="en-US" sz="1900" dirty="0"/>
          </a:p>
        </p:txBody>
      </p:sp>
      <p:sp>
        <p:nvSpPr>
          <p:cNvPr id="8" name="Text 4"/>
          <p:cNvSpPr/>
          <p:nvPr/>
        </p:nvSpPr>
        <p:spPr>
          <a:xfrm>
            <a:off x="731520" y="4754880"/>
            <a:ext cx="5212080" cy="658368"/>
          </a:xfrm>
          <a:prstGeom prst="rect">
            <a:avLst/>
          </a:prstGeom>
          <a:noFill/>
          <a:ln/>
        </p:spPr>
        <p:txBody>
          <a:bodyPr wrap="square" lIns="254" tIns="254" rIns="254" bIns="254" rtlCol="0" anchor="ctr">
            <a:normAutofit/>
          </a:bodyPr>
          <a:lstStyle/>
          <a:p>
            <a:pPr indent="0" marL="0">
              <a:buNone/>
            </a:pPr>
            <a:r>
              <a:rPr lang="en-US" sz="2000" b="1" dirty="0">
                <a:solidFill>
                  <a:srgbClr val="F7F3EA"/>
                </a:solidFill>
                <a:latin typeface="Aptos" pitchFamily="34" charset="0"/>
                <a:ea typeface="Aptos" pitchFamily="34" charset="-122"/>
                <a:cs typeface="Aptos" pitchFamily="34" charset="-120"/>
              </a:rPr>
              <a:t>You do not have to start a company today.</a:t>
            </a:r>
            <a:endParaRPr lang="en-US" sz="2000" dirty="0"/>
          </a:p>
          <a:p>
            <a:pPr indent="0" marL="0">
              <a:buNone/>
            </a:pPr>
            <a:r>
              <a:rPr lang="en-US" sz="2000" b="1" dirty="0">
                <a:solidFill>
                  <a:srgbClr val="F7F3EA"/>
                </a:solidFill>
                <a:latin typeface="Aptos" pitchFamily="34" charset="0"/>
                <a:ea typeface="Aptos" pitchFamily="34" charset="-122"/>
                <a:cs typeface="Aptos" pitchFamily="34" charset="-120"/>
              </a:rPr>
              <a:t>But you should know what you are worth.</a:t>
            </a:r>
            <a:endParaRPr lang="en-US" sz="2000" dirty="0"/>
          </a:p>
        </p:txBody>
      </p:sp>
      <p:sp>
        <p:nvSpPr>
          <p:cNvPr id="9" name="Text 5"/>
          <p:cNvSpPr/>
          <p:nvPr/>
        </p:nvSpPr>
        <p:spPr>
          <a:xfrm>
            <a:off x="9418320" y="6473952"/>
            <a:ext cx="2240280" cy="164592"/>
          </a:xfrm>
          <a:prstGeom prst="rect">
            <a:avLst/>
          </a:prstGeom>
          <a:noFill/>
          <a:ln/>
        </p:spPr>
        <p:txBody>
          <a:bodyPr wrap="square" lIns="254" tIns="254" rIns="254" bIns="254" rtlCol="0" anchor="ctr">
            <a:normAutofit/>
          </a:bodyPr>
          <a:lstStyle/>
          <a:p>
            <a:pPr algn="r" indent="0" marL="0">
              <a:buNone/>
            </a:pPr>
            <a:r>
              <a:rPr lang="en-US" sz="800" dirty="0">
                <a:solidFill>
                  <a:srgbClr val="6E7789"/>
                </a:solidFill>
                <a:latin typeface="Aptos" pitchFamily="34" charset="0"/>
                <a:ea typeface="Aptos" pitchFamily="34" charset="-122"/>
                <a:cs typeface="Aptos" pitchFamily="34" charset="-120"/>
              </a:rPr>
              <a:t>OpenArena • Track 05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02920" y="384048"/>
            <a:ext cx="292608" cy="292608"/>
          </a:xfrm>
          <a:prstGeom prst="rect">
            <a:avLst/>
          </a:prstGeom>
        </p:spPr>
      </p:pic>
      <p:sp>
        <p:nvSpPr>
          <p:cNvPr id="3" name="Text 0"/>
          <p:cNvSpPr/>
          <p:nvPr/>
        </p:nvSpPr>
        <p:spPr>
          <a:xfrm>
            <a:off x="868680" y="429768"/>
            <a:ext cx="2011680" cy="228600"/>
          </a:xfrm>
          <a:prstGeom prst="rect">
            <a:avLst/>
          </a:prstGeom>
          <a:noFill/>
          <a:ln/>
        </p:spPr>
        <p:txBody>
          <a:bodyPr wrap="square" lIns="254" tIns="254" rIns="254" bIns="254" rtlCol="0" anchor="ctr">
            <a:normAutofit/>
          </a:bodyPr>
          <a:lstStyle/>
          <a:p>
            <a:pPr indent="0" marL="0">
              <a:buNone/>
            </a:pPr>
            <a:r>
              <a:rPr lang="en-US" sz="1700" b="1" dirty="0">
                <a:solidFill>
                  <a:srgbClr val="F7F3EA"/>
                </a:solidFill>
                <a:latin typeface="Aptos Display" pitchFamily="34" charset="0"/>
                <a:ea typeface="Aptos Display" pitchFamily="34" charset="-122"/>
                <a:cs typeface="Aptos Display" pitchFamily="34" charset="-120"/>
              </a:rPr>
              <a:t>NextChapter</a:t>
            </a:r>
            <a:endParaRPr lang="en-US" sz="1700" dirty="0"/>
          </a:p>
        </p:txBody>
      </p:sp>
      <p:sp>
        <p:nvSpPr>
          <p:cNvPr id="4" name="Text 1"/>
          <p:cNvSpPr/>
          <p:nvPr/>
        </p:nvSpPr>
        <p:spPr>
          <a:xfrm>
            <a:off x="658368" y="1097280"/>
            <a:ext cx="4937760" cy="1920240"/>
          </a:xfrm>
          <a:prstGeom prst="rect">
            <a:avLst/>
          </a:prstGeom>
          <a:noFill/>
          <a:ln/>
        </p:spPr>
        <p:txBody>
          <a:bodyPr wrap="square" lIns="254" tIns="254" rIns="254" bIns="254" rtlCol="0" anchor="ctr">
            <a:normAutofit/>
          </a:bodyPr>
          <a:lstStyle/>
          <a:p>
            <a:pPr indent="0" marL="0">
              <a:buNone/>
            </a:pPr>
            <a:r>
              <a:rPr lang="en-US" sz="4500" b="1" dirty="0">
                <a:solidFill>
                  <a:srgbClr val="F7F3EA"/>
                </a:solidFill>
                <a:latin typeface="Aptos Display" pitchFamily="34" charset="0"/>
                <a:ea typeface="Aptos Display" pitchFamily="34" charset="-122"/>
                <a:cs typeface="Aptos Display" pitchFamily="34" charset="-120"/>
              </a:rPr>
              <a:t>Agentic.</a:t>
            </a:r>
            <a:endParaRPr lang="en-US" sz="4500" dirty="0"/>
          </a:p>
          <a:p>
            <a:pPr indent="0" marL="0">
              <a:buNone/>
            </a:pPr>
            <a:r>
              <a:rPr lang="en-US" sz="4500" b="1" dirty="0">
                <a:solidFill>
                  <a:srgbClr val="F7F3EA"/>
                </a:solidFill>
                <a:latin typeface="Aptos Display" pitchFamily="34" charset="0"/>
                <a:ea typeface="Aptos Display" pitchFamily="34" charset="-122"/>
                <a:cs typeface="Aptos Display" pitchFamily="34" charset="-120"/>
              </a:rPr>
              <a:t>Grounded.</a:t>
            </a:r>
            <a:endParaRPr lang="en-US" sz="4500" dirty="0"/>
          </a:p>
          <a:p>
            <a:pPr indent="0" marL="0">
              <a:buNone/>
            </a:pPr>
            <a:r>
              <a:rPr lang="en-US" sz="4500" b="1" dirty="0">
                <a:solidFill>
                  <a:srgbClr val="F7F3EA"/>
                </a:solidFill>
                <a:latin typeface="Aptos Display" pitchFamily="34" charset="0"/>
                <a:ea typeface="Aptos Display" pitchFamily="34" charset="-122"/>
                <a:cs typeface="Aptos Display" pitchFamily="34" charset="-120"/>
              </a:rPr>
              <a:t>Honest.</a:t>
            </a:r>
            <a:endParaRPr lang="en-US" sz="4500" dirty="0"/>
          </a:p>
        </p:txBody>
      </p:sp>
      <p:sp>
        <p:nvSpPr>
          <p:cNvPr id="5" name="Shape 2"/>
          <p:cNvSpPr/>
          <p:nvPr/>
        </p:nvSpPr>
        <p:spPr>
          <a:xfrm>
            <a:off x="868680" y="4032504"/>
            <a:ext cx="1508760" cy="0"/>
          </a:xfrm>
          <a:prstGeom prst="line">
            <a:avLst/>
          </a:prstGeom>
          <a:noFill/>
          <a:ln w="25400">
            <a:solidFill>
              <a:srgbClr val="2F5AF5"/>
            </a:solidFill>
            <a:prstDash val="solid"/>
          </a:ln>
        </p:spPr>
      </p:sp>
      <p:sp>
        <p:nvSpPr>
          <p:cNvPr id="6" name="Text 3"/>
          <p:cNvSpPr/>
          <p:nvPr/>
        </p:nvSpPr>
        <p:spPr>
          <a:xfrm>
            <a:off x="151333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F5B94C"/>
                </a:solidFill>
                <a:latin typeface="Aptos" pitchFamily="34" charset="0"/>
                <a:ea typeface="Aptos" pitchFamily="34" charset="-122"/>
                <a:cs typeface="Aptos" pitchFamily="34" charset="-120"/>
              </a:rPr>
              <a:t>1</a:t>
            </a:r>
            <a:endParaRPr lang="en-US" sz="1500" dirty="0"/>
          </a:p>
        </p:txBody>
      </p:sp>
      <p:sp>
        <p:nvSpPr>
          <p:cNvPr id="7" name="Text 4"/>
          <p:cNvSpPr/>
          <p:nvPr/>
        </p:nvSpPr>
        <p:spPr>
          <a:xfrm>
            <a:off x="73152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A9B0BD"/>
                </a:solidFill>
                <a:latin typeface="Aptos" pitchFamily="34" charset="0"/>
                <a:ea typeface="Aptos" pitchFamily="34" charset="-122"/>
                <a:cs typeface="Aptos" pitchFamily="34" charset="-120"/>
              </a:rPr>
              <a:t>Upload CV</a:t>
            </a:r>
            <a:endParaRPr lang="en-US" sz="930" dirty="0"/>
          </a:p>
        </p:txBody>
      </p:sp>
      <p:sp>
        <p:nvSpPr>
          <p:cNvPr id="8" name="Shape 5"/>
          <p:cNvSpPr/>
          <p:nvPr/>
        </p:nvSpPr>
        <p:spPr>
          <a:xfrm>
            <a:off x="2651760" y="4032504"/>
            <a:ext cx="1508760" cy="0"/>
          </a:xfrm>
          <a:prstGeom prst="line">
            <a:avLst/>
          </a:prstGeom>
          <a:noFill/>
          <a:ln w="25400">
            <a:solidFill>
              <a:srgbClr val="2F5AF5"/>
            </a:solidFill>
            <a:prstDash val="solid"/>
          </a:ln>
        </p:spPr>
      </p:sp>
      <p:sp>
        <p:nvSpPr>
          <p:cNvPr id="9" name="Text 6"/>
          <p:cNvSpPr/>
          <p:nvPr/>
        </p:nvSpPr>
        <p:spPr>
          <a:xfrm>
            <a:off x="329641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F5B94C"/>
                </a:solidFill>
                <a:latin typeface="Aptos" pitchFamily="34" charset="0"/>
                <a:ea typeface="Aptos" pitchFamily="34" charset="-122"/>
                <a:cs typeface="Aptos" pitchFamily="34" charset="-120"/>
              </a:rPr>
              <a:t>2</a:t>
            </a:r>
            <a:endParaRPr lang="en-US" sz="1500" dirty="0"/>
          </a:p>
        </p:txBody>
      </p:sp>
      <p:sp>
        <p:nvSpPr>
          <p:cNvPr id="10" name="Text 7"/>
          <p:cNvSpPr/>
          <p:nvPr/>
        </p:nvSpPr>
        <p:spPr>
          <a:xfrm>
            <a:off x="251460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F7F3EA"/>
                </a:solidFill>
                <a:latin typeface="Aptos" pitchFamily="34" charset="0"/>
                <a:ea typeface="Aptos" pitchFamily="34" charset="-122"/>
                <a:cs typeface="Aptos" pitchFamily="34" charset="-120"/>
              </a:rPr>
              <a:t>Discovery Q&amp;A</a:t>
            </a:r>
            <a:endParaRPr lang="en-US" sz="930" dirty="0"/>
          </a:p>
        </p:txBody>
      </p:sp>
      <p:sp>
        <p:nvSpPr>
          <p:cNvPr id="11" name="Shape 8"/>
          <p:cNvSpPr/>
          <p:nvPr/>
        </p:nvSpPr>
        <p:spPr>
          <a:xfrm>
            <a:off x="4434840" y="4032504"/>
            <a:ext cx="1508760" cy="0"/>
          </a:xfrm>
          <a:prstGeom prst="line">
            <a:avLst/>
          </a:prstGeom>
          <a:noFill/>
          <a:ln w="25400">
            <a:solidFill>
              <a:srgbClr val="203047"/>
            </a:solidFill>
            <a:prstDash val="solid"/>
          </a:ln>
        </p:spPr>
      </p:sp>
      <p:sp>
        <p:nvSpPr>
          <p:cNvPr id="12" name="Text 9"/>
          <p:cNvSpPr/>
          <p:nvPr/>
        </p:nvSpPr>
        <p:spPr>
          <a:xfrm>
            <a:off x="507949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A9B0BD"/>
                </a:solidFill>
                <a:latin typeface="Aptos" pitchFamily="34" charset="0"/>
                <a:ea typeface="Aptos" pitchFamily="34" charset="-122"/>
                <a:cs typeface="Aptos" pitchFamily="34" charset="-120"/>
              </a:rPr>
              <a:t>3</a:t>
            </a:r>
            <a:endParaRPr lang="en-US" sz="1500" dirty="0"/>
          </a:p>
        </p:txBody>
      </p:sp>
      <p:sp>
        <p:nvSpPr>
          <p:cNvPr id="13" name="Text 10"/>
          <p:cNvSpPr/>
          <p:nvPr/>
        </p:nvSpPr>
        <p:spPr>
          <a:xfrm>
            <a:off x="429768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A9B0BD"/>
                </a:solidFill>
                <a:latin typeface="Aptos" pitchFamily="34" charset="0"/>
                <a:ea typeface="Aptos" pitchFamily="34" charset="-122"/>
                <a:cs typeface="Aptos" pitchFamily="34" charset="-120"/>
              </a:rPr>
              <a:t>Energy Map</a:t>
            </a:r>
            <a:endParaRPr lang="en-US" sz="930" dirty="0"/>
          </a:p>
        </p:txBody>
      </p:sp>
      <p:sp>
        <p:nvSpPr>
          <p:cNvPr id="14" name="Shape 11"/>
          <p:cNvSpPr/>
          <p:nvPr/>
        </p:nvSpPr>
        <p:spPr>
          <a:xfrm>
            <a:off x="6217920" y="4032504"/>
            <a:ext cx="1508760" cy="0"/>
          </a:xfrm>
          <a:prstGeom prst="line">
            <a:avLst/>
          </a:prstGeom>
          <a:noFill/>
          <a:ln w="25400">
            <a:solidFill>
              <a:srgbClr val="203047"/>
            </a:solidFill>
            <a:prstDash val="solid"/>
          </a:ln>
        </p:spPr>
      </p:sp>
      <p:sp>
        <p:nvSpPr>
          <p:cNvPr id="15" name="Text 12"/>
          <p:cNvSpPr/>
          <p:nvPr/>
        </p:nvSpPr>
        <p:spPr>
          <a:xfrm>
            <a:off x="686257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A9B0BD"/>
                </a:solidFill>
                <a:latin typeface="Aptos" pitchFamily="34" charset="0"/>
                <a:ea typeface="Aptos" pitchFamily="34" charset="-122"/>
                <a:cs typeface="Aptos" pitchFamily="34" charset="-120"/>
              </a:rPr>
              <a:t>4</a:t>
            </a:r>
            <a:endParaRPr lang="en-US" sz="1500" dirty="0"/>
          </a:p>
        </p:txBody>
      </p:sp>
      <p:sp>
        <p:nvSpPr>
          <p:cNvPr id="16" name="Text 13"/>
          <p:cNvSpPr/>
          <p:nvPr/>
        </p:nvSpPr>
        <p:spPr>
          <a:xfrm>
            <a:off x="608076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A9B0BD"/>
                </a:solidFill>
                <a:latin typeface="Aptos" pitchFamily="34" charset="0"/>
                <a:ea typeface="Aptos" pitchFamily="34" charset="-122"/>
                <a:cs typeface="Aptos" pitchFamily="34" charset="-120"/>
              </a:rPr>
              <a:t>Business Directions</a:t>
            </a:r>
            <a:endParaRPr lang="en-US" sz="930" dirty="0"/>
          </a:p>
        </p:txBody>
      </p:sp>
      <p:sp>
        <p:nvSpPr>
          <p:cNvPr id="17" name="Shape 14"/>
          <p:cNvSpPr/>
          <p:nvPr/>
        </p:nvSpPr>
        <p:spPr>
          <a:xfrm>
            <a:off x="8001000" y="4032504"/>
            <a:ext cx="1508760" cy="0"/>
          </a:xfrm>
          <a:prstGeom prst="line">
            <a:avLst/>
          </a:prstGeom>
          <a:noFill/>
          <a:ln w="25400">
            <a:solidFill>
              <a:srgbClr val="203047"/>
            </a:solidFill>
            <a:prstDash val="solid"/>
          </a:ln>
        </p:spPr>
      </p:sp>
      <p:sp>
        <p:nvSpPr>
          <p:cNvPr id="18" name="Text 15"/>
          <p:cNvSpPr/>
          <p:nvPr/>
        </p:nvSpPr>
        <p:spPr>
          <a:xfrm>
            <a:off x="864565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A9B0BD"/>
                </a:solidFill>
                <a:latin typeface="Aptos" pitchFamily="34" charset="0"/>
                <a:ea typeface="Aptos" pitchFamily="34" charset="-122"/>
                <a:cs typeface="Aptos" pitchFamily="34" charset="-120"/>
              </a:rPr>
              <a:t>5</a:t>
            </a:r>
            <a:endParaRPr lang="en-US" sz="1500" dirty="0"/>
          </a:p>
        </p:txBody>
      </p:sp>
      <p:sp>
        <p:nvSpPr>
          <p:cNvPr id="19" name="Text 16"/>
          <p:cNvSpPr/>
          <p:nvPr/>
        </p:nvSpPr>
        <p:spPr>
          <a:xfrm>
            <a:off x="786384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A9B0BD"/>
                </a:solidFill>
                <a:latin typeface="Aptos" pitchFamily="34" charset="0"/>
                <a:ea typeface="Aptos" pitchFamily="34" charset="-122"/>
                <a:cs typeface="Aptos" pitchFamily="34" charset="-120"/>
              </a:rPr>
              <a:t>Viability Verdict</a:t>
            </a:r>
            <a:endParaRPr lang="en-US" sz="930" dirty="0"/>
          </a:p>
        </p:txBody>
      </p:sp>
      <p:sp>
        <p:nvSpPr>
          <p:cNvPr id="20" name="Shape 17"/>
          <p:cNvSpPr/>
          <p:nvPr/>
        </p:nvSpPr>
        <p:spPr>
          <a:xfrm>
            <a:off x="9784080" y="4032504"/>
            <a:ext cx="1508760" cy="0"/>
          </a:xfrm>
          <a:prstGeom prst="line">
            <a:avLst/>
          </a:prstGeom>
          <a:noFill/>
          <a:ln w="25400">
            <a:solidFill>
              <a:srgbClr val="203047"/>
            </a:solidFill>
            <a:prstDash val="solid"/>
          </a:ln>
        </p:spPr>
      </p:sp>
      <p:sp>
        <p:nvSpPr>
          <p:cNvPr id="21" name="Text 18"/>
          <p:cNvSpPr/>
          <p:nvPr/>
        </p:nvSpPr>
        <p:spPr>
          <a:xfrm>
            <a:off x="10428732" y="3822192"/>
            <a:ext cx="219456" cy="201168"/>
          </a:xfrm>
          <a:prstGeom prst="rect">
            <a:avLst/>
          </a:prstGeom>
          <a:noFill/>
          <a:ln/>
        </p:spPr>
        <p:txBody>
          <a:bodyPr wrap="square" lIns="254" tIns="254" rIns="254" bIns="254" rtlCol="0" anchor="ctr">
            <a:normAutofit/>
          </a:bodyPr>
          <a:lstStyle/>
          <a:p>
            <a:pPr algn="ctr" indent="0" marL="0">
              <a:buNone/>
            </a:pPr>
            <a:r>
              <a:rPr lang="en-US" sz="1500" b="1" dirty="0">
                <a:solidFill>
                  <a:srgbClr val="A9B0BD"/>
                </a:solidFill>
                <a:latin typeface="Aptos" pitchFamily="34" charset="0"/>
                <a:ea typeface="Aptos" pitchFamily="34" charset="-122"/>
                <a:cs typeface="Aptos" pitchFamily="34" charset="-120"/>
              </a:rPr>
              <a:t>6</a:t>
            </a:r>
            <a:endParaRPr lang="en-US" sz="1500" dirty="0"/>
          </a:p>
        </p:txBody>
      </p:sp>
      <p:sp>
        <p:nvSpPr>
          <p:cNvPr id="22" name="Text 19"/>
          <p:cNvSpPr/>
          <p:nvPr/>
        </p:nvSpPr>
        <p:spPr>
          <a:xfrm>
            <a:off x="9646920" y="4279392"/>
            <a:ext cx="1783080" cy="228600"/>
          </a:xfrm>
          <a:prstGeom prst="rect">
            <a:avLst/>
          </a:prstGeom>
          <a:noFill/>
          <a:ln/>
        </p:spPr>
        <p:txBody>
          <a:bodyPr wrap="square" lIns="254" tIns="254" rIns="254" bIns="254" rtlCol="0" anchor="ctr">
            <a:normAutofit/>
          </a:bodyPr>
          <a:lstStyle/>
          <a:p>
            <a:pPr algn="ctr" indent="0" marL="0">
              <a:buNone/>
            </a:pPr>
            <a:r>
              <a:rPr lang="en-US" sz="930" dirty="0">
                <a:solidFill>
                  <a:srgbClr val="A9B0BD"/>
                </a:solidFill>
                <a:latin typeface="Aptos" pitchFamily="34" charset="0"/>
                <a:ea typeface="Aptos" pitchFamily="34" charset="-122"/>
                <a:cs typeface="Aptos" pitchFamily="34" charset="-120"/>
              </a:rPr>
              <a:t>Launch &amp; Live</a:t>
            </a:r>
            <a:endParaRPr lang="en-US" sz="930" dirty="0"/>
          </a:p>
        </p:txBody>
      </p:sp>
      <p:sp>
        <p:nvSpPr>
          <p:cNvPr id="23" name="Text 20"/>
          <p:cNvSpPr/>
          <p:nvPr/>
        </p:nvSpPr>
        <p:spPr>
          <a:xfrm>
            <a:off x="749808" y="5230368"/>
            <a:ext cx="3108960" cy="256032"/>
          </a:xfrm>
          <a:prstGeom prst="rect">
            <a:avLst/>
          </a:prstGeom>
          <a:noFill/>
          <a:ln/>
        </p:spPr>
        <p:txBody>
          <a:bodyPr wrap="square" lIns="254" tIns="254" rIns="254" bIns="254" rtlCol="0" anchor="ctr">
            <a:normAutofit/>
          </a:bodyPr>
          <a:lstStyle/>
          <a:p>
            <a:pPr indent="0" marL="0">
              <a:buNone/>
            </a:pPr>
            <a:r>
              <a:rPr lang="en-US" sz="1600" b="1" dirty="0">
                <a:solidFill>
                  <a:srgbClr val="F7F3EA"/>
                </a:solidFill>
                <a:latin typeface="Aptos" pitchFamily="34" charset="0"/>
                <a:ea typeface="Aptos" pitchFamily="34" charset="-122"/>
                <a:cs typeface="Aptos" pitchFamily="34" charset="-120"/>
              </a:rPr>
              <a:t>Six agents, chained</a:t>
            </a:r>
            <a:endParaRPr lang="en-US" sz="1600" dirty="0"/>
          </a:p>
        </p:txBody>
      </p:sp>
      <p:sp>
        <p:nvSpPr>
          <p:cNvPr id="24" name="Text 21"/>
          <p:cNvSpPr/>
          <p:nvPr/>
        </p:nvSpPr>
        <p:spPr>
          <a:xfrm>
            <a:off x="749808" y="5641848"/>
            <a:ext cx="3108960" cy="457200"/>
          </a:xfrm>
          <a:prstGeom prst="rect">
            <a:avLst/>
          </a:prstGeom>
          <a:noFill/>
          <a:ln/>
        </p:spPr>
        <p:txBody>
          <a:bodyPr wrap="square" lIns="254" tIns="254" rIns="254" bIns="254" rtlCol="0" anchor="ctr">
            <a:normAutofit/>
          </a:bodyPr>
          <a:lstStyle/>
          <a:p>
            <a:pPr indent="0" marL="0">
              <a:buNone/>
            </a:pPr>
            <a:r>
              <a:rPr lang="en-US" sz="1050" dirty="0">
                <a:solidFill>
                  <a:srgbClr val="A9B0BD"/>
                </a:solidFill>
                <a:latin typeface="Aptos" pitchFamily="34" charset="0"/>
                <a:ea typeface="Aptos" pitchFamily="34" charset="-122"/>
                <a:cs typeface="Aptos" pitchFamily="34" charset="-120"/>
              </a:rPr>
              <a:t>Profiler, questioner, energy mapper, opportunity scorer, viability judge, launch builder.</a:t>
            </a:r>
            <a:endParaRPr lang="en-US" sz="1050" dirty="0"/>
          </a:p>
        </p:txBody>
      </p:sp>
      <p:sp>
        <p:nvSpPr>
          <p:cNvPr id="25" name="Text 22"/>
          <p:cNvSpPr/>
          <p:nvPr/>
        </p:nvSpPr>
        <p:spPr>
          <a:xfrm>
            <a:off x="4434840" y="5230368"/>
            <a:ext cx="3108960" cy="256032"/>
          </a:xfrm>
          <a:prstGeom prst="rect">
            <a:avLst/>
          </a:prstGeom>
          <a:noFill/>
          <a:ln/>
        </p:spPr>
        <p:txBody>
          <a:bodyPr wrap="square" lIns="254" tIns="254" rIns="254" bIns="254" rtlCol="0" anchor="ctr">
            <a:normAutofit/>
          </a:bodyPr>
          <a:lstStyle/>
          <a:p>
            <a:pPr indent="0" marL="0">
              <a:buNone/>
            </a:pPr>
            <a:r>
              <a:rPr lang="en-US" sz="1600" b="1" dirty="0">
                <a:solidFill>
                  <a:srgbClr val="F7F3EA"/>
                </a:solidFill>
                <a:latin typeface="Aptos" pitchFamily="34" charset="0"/>
                <a:ea typeface="Aptos" pitchFamily="34" charset="-122"/>
                <a:cs typeface="Aptos" pitchFamily="34" charset="-120"/>
              </a:rPr>
              <a:t>Career psychology</a:t>
            </a:r>
            <a:endParaRPr lang="en-US" sz="1600" dirty="0"/>
          </a:p>
        </p:txBody>
      </p:sp>
      <p:sp>
        <p:nvSpPr>
          <p:cNvPr id="26" name="Text 23"/>
          <p:cNvSpPr/>
          <p:nvPr/>
        </p:nvSpPr>
        <p:spPr>
          <a:xfrm>
            <a:off x="4434840" y="5641848"/>
            <a:ext cx="3108960" cy="457200"/>
          </a:xfrm>
          <a:prstGeom prst="rect">
            <a:avLst/>
          </a:prstGeom>
          <a:noFill/>
          <a:ln/>
        </p:spPr>
        <p:txBody>
          <a:bodyPr wrap="square" lIns="254" tIns="254" rIns="254" bIns="254" rtlCol="0" anchor="ctr">
            <a:normAutofit/>
          </a:bodyPr>
          <a:lstStyle/>
          <a:p>
            <a:pPr indent="0" marL="0">
              <a:buNone/>
            </a:pPr>
            <a:r>
              <a:rPr lang="en-US" sz="1050" dirty="0">
                <a:solidFill>
                  <a:srgbClr val="A9B0BD"/>
                </a:solidFill>
                <a:latin typeface="Aptos" pitchFamily="34" charset="0"/>
                <a:ea typeface="Aptos" pitchFamily="34" charset="-122"/>
                <a:cs typeface="Aptos" pitchFamily="34" charset="-120"/>
              </a:rPr>
              <a:t>Flow, self-determination theory, Holland-style fit signals — not generic prompts.</a:t>
            </a:r>
            <a:endParaRPr lang="en-US" sz="1050" dirty="0"/>
          </a:p>
        </p:txBody>
      </p:sp>
      <p:sp>
        <p:nvSpPr>
          <p:cNvPr id="27" name="Text 24"/>
          <p:cNvSpPr/>
          <p:nvPr/>
        </p:nvSpPr>
        <p:spPr>
          <a:xfrm>
            <a:off x="8119872" y="5230368"/>
            <a:ext cx="3108960" cy="256032"/>
          </a:xfrm>
          <a:prstGeom prst="rect">
            <a:avLst/>
          </a:prstGeom>
          <a:noFill/>
          <a:ln/>
        </p:spPr>
        <p:txBody>
          <a:bodyPr wrap="square" lIns="254" tIns="254" rIns="254" bIns="254" rtlCol="0" anchor="ctr">
            <a:normAutofit/>
          </a:bodyPr>
          <a:lstStyle/>
          <a:p>
            <a:pPr indent="0" marL="0">
              <a:buNone/>
            </a:pPr>
            <a:r>
              <a:rPr lang="en-US" sz="1600" b="1" dirty="0">
                <a:solidFill>
                  <a:srgbClr val="F5B94C"/>
                </a:solidFill>
                <a:latin typeface="Aptos" pitchFamily="34" charset="0"/>
                <a:ea typeface="Aptos" pitchFamily="34" charset="-122"/>
                <a:cs typeface="Aptos" pitchFamily="34" charset="-120"/>
              </a:rPr>
              <a:t>Honesty engine</a:t>
            </a:r>
            <a:endParaRPr lang="en-US" sz="1600" dirty="0"/>
          </a:p>
        </p:txBody>
      </p:sp>
      <p:sp>
        <p:nvSpPr>
          <p:cNvPr id="28" name="Text 25"/>
          <p:cNvSpPr/>
          <p:nvPr/>
        </p:nvSpPr>
        <p:spPr>
          <a:xfrm>
            <a:off x="8119872" y="5641848"/>
            <a:ext cx="3108960" cy="457200"/>
          </a:xfrm>
          <a:prstGeom prst="rect">
            <a:avLst/>
          </a:prstGeom>
          <a:noFill/>
          <a:ln/>
        </p:spPr>
        <p:txBody>
          <a:bodyPr wrap="square" lIns="254" tIns="254" rIns="254" bIns="254" rtlCol="0" anchor="ctr">
            <a:normAutofit/>
          </a:bodyPr>
          <a:lstStyle/>
          <a:p>
            <a:pPr indent="0" marL="0">
              <a:buNone/>
            </a:pPr>
            <a:r>
              <a:rPr lang="en-US" sz="1050" dirty="0">
                <a:solidFill>
                  <a:srgbClr val="A9B0BD"/>
                </a:solidFill>
                <a:latin typeface="Aptos" pitchFamily="34" charset="0"/>
                <a:ea typeface="Aptos" pitchFamily="34" charset="-122"/>
                <a:cs typeface="Aptos" pitchFamily="34" charset="-120"/>
              </a:rPr>
              <a:t>Amber/red verdicts with revenue arithmetic. It would rather lose you than lie to you.</a:t>
            </a:r>
            <a:endParaRPr lang="en-US" sz="1050" dirty="0"/>
          </a:p>
        </p:txBody>
      </p:sp>
      <p:sp>
        <p:nvSpPr>
          <p:cNvPr id="29" name="Text 26"/>
          <p:cNvSpPr/>
          <p:nvPr/>
        </p:nvSpPr>
        <p:spPr>
          <a:xfrm>
            <a:off x="9418320" y="6473952"/>
            <a:ext cx="2240280" cy="164592"/>
          </a:xfrm>
          <a:prstGeom prst="rect">
            <a:avLst/>
          </a:prstGeom>
          <a:noFill/>
          <a:ln/>
        </p:spPr>
        <p:txBody>
          <a:bodyPr wrap="square" lIns="254" tIns="254" rIns="254" bIns="254" rtlCol="0" anchor="ctr">
            <a:normAutofit/>
          </a:bodyPr>
          <a:lstStyle/>
          <a:p>
            <a:pPr algn="r" indent="0" marL="0">
              <a:buNone/>
            </a:pPr>
            <a:r>
              <a:rPr lang="en-US" sz="800" dirty="0">
                <a:solidFill>
                  <a:srgbClr val="6E7789"/>
                </a:solidFill>
                <a:latin typeface="Aptos" pitchFamily="34" charset="0"/>
                <a:ea typeface="Aptos" pitchFamily="34" charset="-122"/>
                <a:cs typeface="Aptos" pitchFamily="34" charset="-120"/>
              </a:rPr>
              <a:t>OpenArena • Track 05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02920" y="384048"/>
            <a:ext cx="292608" cy="292608"/>
          </a:xfrm>
          <a:prstGeom prst="rect">
            <a:avLst/>
          </a:prstGeom>
        </p:spPr>
      </p:pic>
      <p:sp>
        <p:nvSpPr>
          <p:cNvPr id="3" name="Text 0"/>
          <p:cNvSpPr/>
          <p:nvPr/>
        </p:nvSpPr>
        <p:spPr>
          <a:xfrm>
            <a:off x="868680" y="429768"/>
            <a:ext cx="2011680" cy="228600"/>
          </a:xfrm>
          <a:prstGeom prst="rect">
            <a:avLst/>
          </a:prstGeom>
          <a:noFill/>
          <a:ln/>
        </p:spPr>
        <p:txBody>
          <a:bodyPr wrap="square" lIns="254" tIns="254" rIns="254" bIns="254" rtlCol="0" anchor="ctr">
            <a:normAutofit/>
          </a:bodyPr>
          <a:lstStyle/>
          <a:p>
            <a:pPr indent="0" marL="0">
              <a:buNone/>
            </a:pPr>
            <a:r>
              <a:rPr lang="en-US" sz="1700" b="1" dirty="0">
                <a:solidFill>
                  <a:srgbClr val="F7F3EA"/>
                </a:solidFill>
                <a:latin typeface="Aptos Display" pitchFamily="34" charset="0"/>
                <a:ea typeface="Aptos Display" pitchFamily="34" charset="-122"/>
                <a:cs typeface="Aptos Display" pitchFamily="34" charset="-120"/>
              </a:rPr>
              <a:t>NextChapter</a:t>
            </a:r>
            <a:endParaRPr lang="en-US" sz="1700" dirty="0"/>
          </a:p>
        </p:txBody>
      </p:sp>
      <p:sp>
        <p:nvSpPr>
          <p:cNvPr id="4" name="Text 1"/>
          <p:cNvSpPr/>
          <p:nvPr/>
        </p:nvSpPr>
        <p:spPr>
          <a:xfrm>
            <a:off x="685800" y="914400"/>
            <a:ext cx="3840480" cy="548640"/>
          </a:xfrm>
          <a:prstGeom prst="rect">
            <a:avLst/>
          </a:prstGeom>
          <a:noFill/>
          <a:ln/>
        </p:spPr>
        <p:txBody>
          <a:bodyPr wrap="square" lIns="254" tIns="254" rIns="254" bIns="254" rtlCol="0" anchor="ctr">
            <a:normAutofit/>
          </a:bodyPr>
          <a:lstStyle/>
          <a:p>
            <a:pPr indent="0" marL="0">
              <a:buNone/>
            </a:pPr>
            <a:r>
              <a:rPr lang="en-US" sz="3600" b="1" dirty="0">
                <a:solidFill>
                  <a:srgbClr val="F7F3EA"/>
                </a:solidFill>
                <a:latin typeface="Aptos Display" pitchFamily="34" charset="0"/>
                <a:ea typeface="Aptos Display" pitchFamily="34" charset="-122"/>
                <a:cs typeface="Aptos Display" pitchFamily="34" charset="-120"/>
              </a:rPr>
              <a:t>Business model</a:t>
            </a:r>
            <a:endParaRPr lang="en-US" sz="3600" dirty="0"/>
          </a:p>
        </p:txBody>
      </p:sp>
      <p:sp>
        <p:nvSpPr>
          <p:cNvPr id="5" name="Text 2"/>
          <p:cNvSpPr/>
          <p:nvPr/>
        </p:nvSpPr>
        <p:spPr>
          <a:xfrm>
            <a:off x="777240" y="2148840"/>
            <a:ext cx="365760" cy="256032"/>
          </a:xfrm>
          <a:prstGeom prst="rect">
            <a:avLst/>
          </a:prstGeom>
          <a:noFill/>
          <a:ln/>
        </p:spPr>
        <p:txBody>
          <a:bodyPr wrap="square" lIns="254" tIns="254" rIns="254" bIns="254" rtlCol="0" anchor="ctr">
            <a:normAutofit/>
          </a:bodyPr>
          <a:lstStyle/>
          <a:p>
            <a:pPr indent="0" marL="0">
              <a:buNone/>
            </a:pPr>
            <a:r>
              <a:rPr lang="en-US" sz="2000" b="1" dirty="0">
                <a:solidFill>
                  <a:srgbClr val="2F5AF5"/>
                </a:solidFill>
                <a:latin typeface="Aptos" pitchFamily="34" charset="0"/>
                <a:ea typeface="Aptos" pitchFamily="34" charset="-122"/>
                <a:cs typeface="Aptos" pitchFamily="34" charset="-120"/>
              </a:rPr>
              <a:t>1</a:t>
            </a:r>
            <a:endParaRPr lang="en-US" sz="2000" dirty="0"/>
          </a:p>
        </p:txBody>
      </p:sp>
      <p:sp>
        <p:nvSpPr>
          <p:cNvPr id="6" name="Text 3"/>
          <p:cNvSpPr/>
          <p:nvPr/>
        </p:nvSpPr>
        <p:spPr>
          <a:xfrm>
            <a:off x="1280160" y="2130552"/>
            <a:ext cx="2560320" cy="329184"/>
          </a:xfrm>
          <a:prstGeom prst="rect">
            <a:avLst/>
          </a:prstGeom>
          <a:noFill/>
          <a:ln/>
        </p:spPr>
        <p:txBody>
          <a:bodyPr wrap="square" lIns="254" tIns="254" rIns="254" bIns="254" rtlCol="0" anchor="ctr">
            <a:normAutofit/>
          </a:bodyPr>
          <a:lstStyle/>
          <a:p>
            <a:pPr indent="0" marL="0">
              <a:buNone/>
            </a:pPr>
            <a:r>
              <a:rPr lang="en-US" sz="1900" b="1" dirty="0">
                <a:solidFill>
                  <a:srgbClr val="F7F3EA"/>
                </a:solidFill>
                <a:latin typeface="Aptos" pitchFamily="34" charset="0"/>
                <a:ea typeface="Aptos" pitchFamily="34" charset="-122"/>
                <a:cs typeface="Aptos" pitchFamily="34" charset="-120"/>
              </a:rPr>
              <a:t>Free Strength Map</a:t>
            </a:r>
            <a:endParaRPr lang="en-US" sz="1900" dirty="0"/>
          </a:p>
        </p:txBody>
      </p:sp>
      <p:sp>
        <p:nvSpPr>
          <p:cNvPr id="7" name="Text 4"/>
          <p:cNvSpPr/>
          <p:nvPr/>
        </p:nvSpPr>
        <p:spPr>
          <a:xfrm>
            <a:off x="1280160" y="2697480"/>
            <a:ext cx="2560320" cy="594360"/>
          </a:xfrm>
          <a:prstGeom prst="rect">
            <a:avLst/>
          </a:prstGeom>
          <a:noFill/>
          <a:ln/>
        </p:spPr>
        <p:txBody>
          <a:bodyPr wrap="square" lIns="254" tIns="254" rIns="254" bIns="254" rtlCol="0" anchor="ctr">
            <a:normAutofit/>
          </a:bodyPr>
          <a:lstStyle/>
          <a:p>
            <a:pPr indent="0" marL="0">
              <a:buNone/>
            </a:pPr>
            <a:r>
              <a:rPr lang="en-US" sz="1250" dirty="0">
                <a:solidFill>
                  <a:srgbClr val="A9B0BD"/>
                </a:solidFill>
                <a:latin typeface="Aptos" pitchFamily="34" charset="0"/>
                <a:ea typeface="Aptos" pitchFamily="34" charset="-122"/>
                <a:cs typeface="Aptos" pitchFamily="34" charset="-120"/>
              </a:rPr>
              <a:t>Shareable diagnosis card. Every share is acquisition.</a:t>
            </a:r>
            <a:endParaRPr lang="en-US" sz="1250" dirty="0"/>
          </a:p>
        </p:txBody>
      </p:sp>
      <p:sp>
        <p:nvSpPr>
          <p:cNvPr id="8" name="Text 5"/>
          <p:cNvSpPr/>
          <p:nvPr/>
        </p:nvSpPr>
        <p:spPr>
          <a:xfrm>
            <a:off x="4343400" y="2148840"/>
            <a:ext cx="365760" cy="256032"/>
          </a:xfrm>
          <a:prstGeom prst="rect">
            <a:avLst/>
          </a:prstGeom>
          <a:noFill/>
          <a:ln/>
        </p:spPr>
        <p:txBody>
          <a:bodyPr wrap="square" lIns="254" tIns="254" rIns="254" bIns="254" rtlCol="0" anchor="ctr">
            <a:normAutofit/>
          </a:bodyPr>
          <a:lstStyle/>
          <a:p>
            <a:pPr indent="0" marL="0">
              <a:buNone/>
            </a:pPr>
            <a:r>
              <a:rPr lang="en-US" sz="2000" b="1" dirty="0">
                <a:solidFill>
                  <a:srgbClr val="F5B94C"/>
                </a:solidFill>
                <a:latin typeface="Aptos" pitchFamily="34" charset="0"/>
                <a:ea typeface="Aptos" pitchFamily="34" charset="-122"/>
                <a:cs typeface="Aptos" pitchFamily="34" charset="-120"/>
              </a:rPr>
              <a:t>2</a:t>
            </a:r>
            <a:endParaRPr lang="en-US" sz="2000" dirty="0"/>
          </a:p>
        </p:txBody>
      </p:sp>
      <p:sp>
        <p:nvSpPr>
          <p:cNvPr id="9" name="Text 6"/>
          <p:cNvSpPr/>
          <p:nvPr/>
        </p:nvSpPr>
        <p:spPr>
          <a:xfrm>
            <a:off x="4846320" y="2130552"/>
            <a:ext cx="2560320" cy="329184"/>
          </a:xfrm>
          <a:prstGeom prst="rect">
            <a:avLst/>
          </a:prstGeom>
          <a:noFill/>
          <a:ln/>
        </p:spPr>
        <p:txBody>
          <a:bodyPr wrap="square" lIns="254" tIns="254" rIns="254" bIns="254" rtlCol="0" anchor="ctr">
            <a:normAutofit/>
          </a:bodyPr>
          <a:lstStyle/>
          <a:p>
            <a:pPr indent="0" marL="0">
              <a:buNone/>
            </a:pPr>
            <a:r>
              <a:rPr lang="en-US" sz="1900" b="1" dirty="0">
                <a:solidFill>
                  <a:srgbClr val="F7F3EA"/>
                </a:solidFill>
                <a:latin typeface="Aptos" pitchFamily="34" charset="0"/>
                <a:ea typeface="Aptos" pitchFamily="34" charset="-122"/>
                <a:cs typeface="Aptos" pitchFamily="34" charset="-120"/>
              </a:rPr>
              <a:t>S$49 Launch</a:t>
            </a:r>
            <a:endParaRPr lang="en-US" sz="1900" dirty="0"/>
          </a:p>
        </p:txBody>
      </p:sp>
      <p:sp>
        <p:nvSpPr>
          <p:cNvPr id="10" name="Text 7"/>
          <p:cNvSpPr/>
          <p:nvPr/>
        </p:nvSpPr>
        <p:spPr>
          <a:xfrm>
            <a:off x="4846320" y="2697480"/>
            <a:ext cx="2560320" cy="594360"/>
          </a:xfrm>
          <a:prstGeom prst="rect">
            <a:avLst/>
          </a:prstGeom>
          <a:noFill/>
          <a:ln/>
        </p:spPr>
        <p:txBody>
          <a:bodyPr wrap="square" lIns="254" tIns="254" rIns="254" bIns="254" rtlCol="0" anchor="ctr">
            <a:normAutofit/>
          </a:bodyPr>
          <a:lstStyle/>
          <a:p>
            <a:pPr indent="0" marL="0">
              <a:buNone/>
            </a:pPr>
            <a:r>
              <a:rPr lang="en-US" sz="1250" dirty="0">
                <a:solidFill>
                  <a:srgbClr val="A9B0BD"/>
                </a:solidFill>
                <a:latin typeface="Aptos" pitchFamily="34" charset="0"/>
                <a:ea typeface="Aptos" pitchFamily="34" charset="-122"/>
                <a:cs typeface="Aptos" pitchFamily="34" charset="-120"/>
              </a:rPr>
              <a:t>Website + offer + pricing + first proposal.</a:t>
            </a:r>
            <a:endParaRPr lang="en-US" sz="1250" dirty="0"/>
          </a:p>
        </p:txBody>
      </p:sp>
      <p:sp>
        <p:nvSpPr>
          <p:cNvPr id="11" name="Text 8"/>
          <p:cNvSpPr/>
          <p:nvPr/>
        </p:nvSpPr>
        <p:spPr>
          <a:xfrm>
            <a:off x="7909560" y="2148840"/>
            <a:ext cx="365760" cy="256032"/>
          </a:xfrm>
          <a:prstGeom prst="rect">
            <a:avLst/>
          </a:prstGeom>
          <a:noFill/>
          <a:ln/>
        </p:spPr>
        <p:txBody>
          <a:bodyPr wrap="square" lIns="254" tIns="254" rIns="254" bIns="254" rtlCol="0" anchor="ctr">
            <a:normAutofit/>
          </a:bodyPr>
          <a:lstStyle/>
          <a:p>
            <a:pPr indent="0" marL="0">
              <a:buNone/>
            </a:pPr>
            <a:r>
              <a:rPr lang="en-US" sz="2000" b="1" dirty="0">
                <a:solidFill>
                  <a:srgbClr val="2F5AF5"/>
                </a:solidFill>
                <a:latin typeface="Aptos" pitchFamily="34" charset="0"/>
                <a:ea typeface="Aptos" pitchFamily="34" charset="-122"/>
                <a:cs typeface="Aptos" pitchFamily="34" charset="-120"/>
              </a:rPr>
              <a:t>3</a:t>
            </a:r>
            <a:endParaRPr lang="en-US" sz="2000" dirty="0"/>
          </a:p>
        </p:txBody>
      </p:sp>
      <p:sp>
        <p:nvSpPr>
          <p:cNvPr id="12" name="Text 9"/>
          <p:cNvSpPr/>
          <p:nvPr/>
        </p:nvSpPr>
        <p:spPr>
          <a:xfrm>
            <a:off x="8412480" y="2130552"/>
            <a:ext cx="2560320" cy="329184"/>
          </a:xfrm>
          <a:prstGeom prst="rect">
            <a:avLst/>
          </a:prstGeom>
          <a:noFill/>
          <a:ln/>
        </p:spPr>
        <p:txBody>
          <a:bodyPr wrap="square" lIns="254" tIns="254" rIns="254" bIns="254" rtlCol="0" anchor="ctr">
            <a:normAutofit/>
          </a:bodyPr>
          <a:lstStyle/>
          <a:p>
            <a:pPr indent="0" marL="0">
              <a:buNone/>
            </a:pPr>
            <a:r>
              <a:rPr lang="en-US" sz="1900" b="1" dirty="0">
                <a:solidFill>
                  <a:srgbClr val="F7F3EA"/>
                </a:solidFill>
                <a:latin typeface="Aptos" pitchFamily="34" charset="0"/>
                <a:ea typeface="Aptos" pitchFamily="34" charset="-122"/>
                <a:cs typeface="Aptos" pitchFamily="34" charset="-120"/>
              </a:rPr>
              <a:t>B2B Channel</a:t>
            </a:r>
            <a:endParaRPr lang="en-US" sz="1900" dirty="0"/>
          </a:p>
        </p:txBody>
      </p:sp>
      <p:sp>
        <p:nvSpPr>
          <p:cNvPr id="13" name="Text 10"/>
          <p:cNvSpPr/>
          <p:nvPr/>
        </p:nvSpPr>
        <p:spPr>
          <a:xfrm>
            <a:off x="8412480" y="2697480"/>
            <a:ext cx="2560320" cy="594360"/>
          </a:xfrm>
          <a:prstGeom prst="rect">
            <a:avLst/>
          </a:prstGeom>
          <a:noFill/>
          <a:ln/>
        </p:spPr>
        <p:txBody>
          <a:bodyPr wrap="square" lIns="254" tIns="254" rIns="254" bIns="254" rtlCol="0" anchor="ctr">
            <a:normAutofit/>
          </a:bodyPr>
          <a:lstStyle/>
          <a:p>
            <a:pPr indent="0" marL="0">
              <a:buNone/>
            </a:pPr>
            <a:r>
              <a:rPr lang="en-US" sz="1250" dirty="0">
                <a:solidFill>
                  <a:srgbClr val="A9B0BD"/>
                </a:solidFill>
                <a:latin typeface="Aptos" pitchFamily="34" charset="0"/>
                <a:ea typeface="Aptos" pitchFamily="34" charset="-122"/>
                <a:cs typeface="Aptos" pitchFamily="34" charset="-120"/>
              </a:rPr>
              <a:t>Outplacement firms and e2i-style transition support pay per head.</a:t>
            </a:r>
            <a:endParaRPr lang="en-US" sz="1250" dirty="0"/>
          </a:p>
        </p:txBody>
      </p:sp>
      <p:sp>
        <p:nvSpPr>
          <p:cNvPr id="14" name="Text 11"/>
          <p:cNvSpPr/>
          <p:nvPr/>
        </p:nvSpPr>
        <p:spPr>
          <a:xfrm>
            <a:off x="1280160" y="4526280"/>
            <a:ext cx="9646920" cy="566928"/>
          </a:xfrm>
          <a:prstGeom prst="rect">
            <a:avLst/>
          </a:prstGeom>
          <a:noFill/>
          <a:ln/>
        </p:spPr>
        <p:txBody>
          <a:bodyPr wrap="square" lIns="254" tIns="254" rIns="254" bIns="254" rtlCol="0" anchor="ctr">
            <a:normAutofit/>
          </a:bodyPr>
          <a:lstStyle/>
          <a:p>
            <a:pPr algn="ctr" indent="0" marL="0">
              <a:buNone/>
            </a:pPr>
            <a:r>
              <a:rPr lang="en-US" sz="3600" b="1" dirty="0">
                <a:solidFill>
                  <a:srgbClr val="F5B94C"/>
                </a:solidFill>
                <a:latin typeface="Aptos Display" pitchFamily="34" charset="0"/>
                <a:ea typeface="Aptos Display" pitchFamily="34" charset="-122"/>
                <a:cs typeface="Aptos Display" pitchFamily="34" charset="-120"/>
              </a:rPr>
              <a:t>One founder + agents = the next company.</a:t>
            </a:r>
            <a:endParaRPr lang="en-US" sz="3600" dirty="0"/>
          </a:p>
        </p:txBody>
      </p:sp>
      <p:sp>
        <p:nvSpPr>
          <p:cNvPr id="15" name="Text 12"/>
          <p:cNvSpPr/>
          <p:nvPr/>
        </p:nvSpPr>
        <p:spPr>
          <a:xfrm>
            <a:off x="1691640" y="5504688"/>
            <a:ext cx="8778240" cy="320040"/>
          </a:xfrm>
          <a:prstGeom prst="rect">
            <a:avLst/>
          </a:prstGeom>
          <a:noFill/>
          <a:ln/>
        </p:spPr>
        <p:txBody>
          <a:bodyPr wrap="square" lIns="254" tIns="254" rIns="254" bIns="254" rtlCol="0" anchor="ctr">
            <a:normAutofit/>
          </a:bodyPr>
          <a:lstStyle/>
          <a:p>
            <a:pPr algn="ctr" indent="0" marL="0">
              <a:buNone/>
            </a:pPr>
            <a:r>
              <a:rPr lang="en-US" sz="1450" dirty="0">
                <a:solidFill>
                  <a:srgbClr val="A9B0BD"/>
                </a:solidFill>
                <a:latin typeface="Aptos" pitchFamily="34" charset="0"/>
                <a:ea typeface="Aptos" pitchFamily="34" charset="-122"/>
                <a:cs typeface="Aptos" pitchFamily="34" charset="-120"/>
              </a:rPr>
              <a:t>Today it launches your company. Tomorrow it becomes the partner that remembers every decision and grows with you.</a:t>
            </a:r>
            <a:endParaRPr lang="en-US" sz="1450" dirty="0"/>
          </a:p>
        </p:txBody>
      </p:sp>
      <p:sp>
        <p:nvSpPr>
          <p:cNvPr id="16" name="Text 13"/>
          <p:cNvSpPr/>
          <p:nvPr/>
        </p:nvSpPr>
        <p:spPr>
          <a:xfrm>
            <a:off x="9418320" y="6473952"/>
            <a:ext cx="2240280" cy="164592"/>
          </a:xfrm>
          <a:prstGeom prst="rect">
            <a:avLst/>
          </a:prstGeom>
          <a:noFill/>
          <a:ln/>
        </p:spPr>
        <p:txBody>
          <a:bodyPr wrap="square" lIns="254" tIns="254" rIns="254" bIns="254" rtlCol="0" anchor="ctr">
            <a:normAutofit/>
          </a:bodyPr>
          <a:lstStyle/>
          <a:p>
            <a:pPr algn="r" indent="0" marL="0">
              <a:buNone/>
            </a:pPr>
            <a:r>
              <a:rPr lang="en-US" sz="800" dirty="0">
                <a:solidFill>
                  <a:srgbClr val="6E7789"/>
                </a:solidFill>
                <a:latin typeface="Aptos" pitchFamily="34" charset="0"/>
                <a:ea typeface="Aptos" pitchFamily="34" charset="-122"/>
                <a:cs typeface="Aptos" pitchFamily="34" charset="-120"/>
              </a:rPr>
              <a:t>OpenArena • Track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0813"/>
        </a:solidFill>
      </p:bgPr>
    </p:bg>
    <p:spTree>
      <p:nvGrpSpPr>
        <p:cNvPr id="1" name=""/>
        <p:cNvGrpSpPr/>
        <p:nvPr/>
      </p:nvGrpSpPr>
      <p:grpSpPr>
        <a:xfrm>
          <a:off x="0" y="0"/>
          <a:ext cx="0" cy="0"/>
          <a:chOff x="0" y="0"/>
          <a:chExt cx="0" cy="0"/>
        </a:xfrm>
      </p:grpSpPr>
      <p:pic>
        <p:nvPicPr>
          <p:cNvPr id="2" name="Image 0" descr="/mnt/data/nextchapter_highres_assets/nextchapter_n_mark_2048.png">    </p:cNvPr>
          <p:cNvPicPr>
            <a:picLocks noChangeAspect="1"/>
          </p:cNvPicPr>
          <p:nvPr/>
        </p:nvPicPr>
        <p:blipFill>
          <a:blip r:embed="rId1"/>
          <a:stretch>
            <a:fillRect/>
          </a:stretch>
        </p:blipFill>
        <p:spPr>
          <a:xfrm>
            <a:off x="5166360" y="960120"/>
            <a:ext cx="1828800" cy="1828800"/>
          </a:xfrm>
          <a:prstGeom prst="rect">
            <a:avLst/>
          </a:prstGeom>
        </p:spPr>
      </p:pic>
      <p:sp>
        <p:nvSpPr>
          <p:cNvPr id="3" name="Text 0"/>
          <p:cNvSpPr/>
          <p:nvPr/>
        </p:nvSpPr>
        <p:spPr>
          <a:xfrm>
            <a:off x="3977640" y="2971800"/>
            <a:ext cx="4251960" cy="502920"/>
          </a:xfrm>
          <a:prstGeom prst="rect">
            <a:avLst/>
          </a:prstGeom>
          <a:noFill/>
          <a:ln/>
        </p:spPr>
        <p:txBody>
          <a:bodyPr wrap="square" lIns="254" tIns="254" rIns="254" bIns="254" rtlCol="0" anchor="ctr">
            <a:normAutofit/>
          </a:bodyPr>
          <a:lstStyle/>
          <a:p>
            <a:pPr algn="ctr" indent="0" marL="0">
              <a:buNone/>
            </a:pPr>
            <a:r>
              <a:rPr lang="en-US" sz="3400" b="1" dirty="0">
                <a:solidFill>
                  <a:srgbClr val="F7F3EA"/>
                </a:solidFill>
                <a:latin typeface="Aptos Display" pitchFamily="34" charset="0"/>
                <a:ea typeface="Aptos Display" pitchFamily="34" charset="-122"/>
                <a:cs typeface="Aptos Display" pitchFamily="34" charset="-120"/>
              </a:rPr>
              <a:t>NextChapter</a:t>
            </a:r>
            <a:endParaRPr lang="en-US" sz="3400" dirty="0"/>
          </a:p>
        </p:txBody>
      </p:sp>
      <p:sp>
        <p:nvSpPr>
          <p:cNvPr id="4" name="Text 1"/>
          <p:cNvSpPr/>
          <p:nvPr/>
        </p:nvSpPr>
        <p:spPr>
          <a:xfrm>
            <a:off x="960120" y="3858768"/>
            <a:ext cx="10287000" cy="868680"/>
          </a:xfrm>
          <a:prstGeom prst="rect">
            <a:avLst/>
          </a:prstGeom>
          <a:noFill/>
          <a:ln/>
        </p:spPr>
        <p:txBody>
          <a:bodyPr wrap="square" lIns="254" tIns="254" rIns="254" bIns="254" rtlCol="0" anchor="ctr">
            <a:normAutofit/>
          </a:bodyPr>
          <a:lstStyle/>
          <a:p>
            <a:pPr algn="ctr" indent="0" marL="0">
              <a:buNone/>
            </a:pPr>
            <a:r>
              <a:rPr lang="en-US" sz="3200" b="1" dirty="0">
                <a:solidFill>
                  <a:srgbClr val="F7F3EA"/>
                </a:solidFill>
                <a:latin typeface="Aptos Display" pitchFamily="34" charset="0"/>
                <a:ea typeface="Aptos Display" pitchFamily="34" charset="-122"/>
                <a:cs typeface="Aptos Display" pitchFamily="34" charset="-120"/>
              </a:rPr>
              <a:t>We don’t build tools for one-person companies.</a:t>
            </a:r>
            <a:endParaRPr lang="en-US" sz="3200" dirty="0"/>
          </a:p>
          <a:p>
            <a:pPr algn="ctr" indent="0" marL="0">
              <a:buNone/>
            </a:pPr>
            <a:r>
              <a:rPr lang="en-US" sz="3200" b="1" dirty="0">
                <a:solidFill>
                  <a:srgbClr val="F7F3EA"/>
                </a:solidFill>
                <a:latin typeface="Aptos Display" pitchFamily="34" charset="0"/>
                <a:ea typeface="Aptos Display" pitchFamily="34" charset="-122"/>
                <a:cs typeface="Aptos Display" pitchFamily="34" charset="-120"/>
              </a:rPr>
              <a:t>We build the companies.</a:t>
            </a:r>
            <a:endParaRPr lang="en-US" sz="3200" dirty="0"/>
          </a:p>
        </p:txBody>
      </p:sp>
      <p:sp>
        <p:nvSpPr>
          <p:cNvPr id="5" name="Text 2"/>
          <p:cNvSpPr/>
          <p:nvPr/>
        </p:nvSpPr>
        <p:spPr>
          <a:xfrm>
            <a:off x="1874520" y="5806440"/>
            <a:ext cx="8458200" cy="256032"/>
          </a:xfrm>
          <a:prstGeom prst="rect">
            <a:avLst/>
          </a:prstGeom>
          <a:noFill/>
          <a:ln/>
        </p:spPr>
        <p:txBody>
          <a:bodyPr wrap="square" lIns="254" tIns="254" rIns="254" bIns="254" rtlCol="0" anchor="ctr">
            <a:normAutofit/>
          </a:bodyPr>
          <a:lstStyle/>
          <a:p>
            <a:pPr algn="ctr" indent="0" marL="0">
              <a:buNone/>
            </a:pPr>
            <a:r>
              <a:rPr lang="en-US" sz="1400" dirty="0">
                <a:solidFill>
                  <a:srgbClr val="F5B94C"/>
                </a:solidFill>
                <a:latin typeface="Aptos" pitchFamily="34" charset="0"/>
                <a:ea typeface="Aptos" pitchFamily="34" charset="-122"/>
                <a:cs typeface="Aptos" pitchFamily="34" charset="-120"/>
              </a:rPr>
              <a:t>Sheryl Deng  •  OpenArena / Track 05  •  Built solo in two days with Claude Code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NextChapter Hackathon Demo</dc:title>
  <dc:subject>NextChapter hackathon 3-minute demo</dc:subject>
  <dc:creator>Sheryl Deng</dc:creator>
  <cp:lastModifiedBy>Sheryl Deng</cp:lastModifiedBy>
  <cp:revision>1</cp:revision>
  <dcterms:created xsi:type="dcterms:W3CDTF">2026-07-12T05:01:44Z</dcterms:created>
  <dcterms:modified xsi:type="dcterms:W3CDTF">2026-07-12T05:01:44Z</dcterms:modified>
</cp:coreProperties>
</file>