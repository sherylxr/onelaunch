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Say: Everyone talks about finding your next job. What if you could build your next chapter?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is Sarah. 48, operations manager, 16 years. She was made redundant in May. Today, Sarah is unemployed. But her capability did not disappear.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Her CV says operations manager. But Sarah also coaches juniors. And every CNY she bakes 40 tins of pineapple tarts like a production line. None of this appears on her 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What if AI could discover the founder hidden inside Sarah? Not just what job she can apply for — what company she could build. Switch to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script: Sarah pastes her CV. NextChapter asks what her CV cannot say. Show pineapple tart answer. Energy Map reveals systems design intuition. Business directions: agent recommends safe consultancy; Sarah picks what fits deeper. The human decides. Verdict: amber, S$18–48k year one, actual math. Finale: live website and 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That is one person. Here is the room. Scan this QR code and NextChapter will find your hidden strengths in the next two minutes. You do not have to start a company today — but you should know what you are worth.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Underneath, six agents work in sequence. Discovery is grounded in career psychology. And the honesty engine would rather lose you than lie to you. Everyone builds hype. We built a partner that tells the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Strength Map is free. Users pay S$49 to build and launch their first business package. The larger channel is B2B — outplacement firms, employers and workforce-transition partners pay per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We do not build tools for one-person companies. We build the companies. I’m Sheryl — I built this solo in two days with Claude Code. NextChapter.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4"/>
          </a:solidFill>
          <a:ln w="12700">
            <a:solidFill>
              <a:srgbClr val="0208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1155680" cy="0"/>
          </a:xfrm>
          <a:prstGeom prst="line">
            <a:avLst/>
          </a:prstGeom>
          <a:noFill/>
          <a:ln w="8890">
            <a:solidFill>
              <a:srgbClr val="1B2A44">
                <a:alpha val="55000"/>
              </a:srgbClr>
            </a:solidFill>
            <a:prstDash val="solid"/>
          </a:ln>
        </p:spPr>
      </p:sp>
      <p:pic>
        <p:nvPicPr>
          <p:cNvPr id="4" name="Image 0" descr="/mnt/data/nextchapter_highres_assets/nextchapter_n_mark_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3272" y="5532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NextChapter</a:t>
            </a:r>
            <a:endParaRPr lang="en-US" sz="1850" dirty="0"/>
          </a:p>
        </p:txBody>
      </p:sp>
      <p:pic>
        <p:nvPicPr>
          <p:cNvPr id="6" name="Image 1" descr="/mnt/data/a_digital_graphic_design_of_the_letter_n_logo_fo.png">    </p:cNvPr>
          <p:cNvPicPr>
            <a:picLocks noChangeAspect="1"/>
          </p:cNvPicPr>
          <p:nvPr/>
        </p:nvPicPr>
        <p:blipFill>
          <a:blip r:embed="rId2">
            <a:alphaModFix amt="96000"/>
          </a:blip>
          <a:srcRect l="0" r="0" t="16667" b="16667"/>
          <a:stretch/>
        </p:blipFill>
        <p:spPr>
          <a:xfrm>
            <a:off x="7955280" y="1508760"/>
            <a:ext cx="2971800" cy="297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4672" y="1389888"/>
            <a:ext cx="6720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Everyone talks about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finding your next job.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804672" y="2816352"/>
            <a:ext cx="6903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0" b="1" dirty="0">
                <a:solidFill>
                  <a:srgbClr val="F5B94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if you could build</a:t>
            </a:r>
            <a:endParaRPr lang="en-US" sz="4900" dirty="0"/>
          </a:p>
          <a:p>
            <a:pPr algn="l" indent="0" marL="0">
              <a:buNone/>
            </a:pPr>
            <a:r>
              <a:rPr lang="en-US" sz="4900" b="1" dirty="0">
                <a:solidFill>
                  <a:srgbClr val="F5B94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your next chapter?</a:t>
            </a:r>
            <a:endParaRPr lang="en-US" sz="4900" dirty="0"/>
          </a:p>
        </p:txBody>
      </p:sp>
      <p:sp>
        <p:nvSpPr>
          <p:cNvPr id="9" name="Text 5"/>
          <p:cNvSpPr/>
          <p:nvPr/>
        </p:nvSpPr>
        <p:spPr>
          <a:xfrm>
            <a:off x="841248" y="46634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the founder already hidden in your career.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4"/>
          </a:solidFill>
          <a:ln w="12700">
            <a:solidFill>
              <a:srgbClr val="0208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1155680" cy="0"/>
          </a:xfrm>
          <a:prstGeom prst="line">
            <a:avLst/>
          </a:prstGeom>
          <a:noFill/>
          <a:ln w="8890">
            <a:solidFill>
              <a:srgbClr val="1B2A44">
                <a:alpha val="55000"/>
              </a:srgbClr>
            </a:solidFill>
            <a:prstDash val="solid"/>
          </a:ln>
        </p:spPr>
      </p:sp>
      <p:pic>
        <p:nvPicPr>
          <p:cNvPr id="4" name="Image 0" descr="/mnt/data/nextchapter_highres_assets/nextchapter_n_mark_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3272" y="5532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NextChapter</a:t>
            </a:r>
            <a:endParaRPr lang="en-US" sz="1850" dirty="0"/>
          </a:p>
        </p:txBody>
      </p:sp>
      <p:pic>
        <p:nvPicPr>
          <p:cNvPr id="6" name="Image 1" descr="/mnt/data/a_cinematic_indoor_scene_at_dusk_night_in_a_modern.png">    </p:cNvPr>
          <p:cNvPicPr>
            <a:picLocks noChangeAspect="1"/>
          </p:cNvPicPr>
          <p:nvPr/>
        </p:nvPicPr>
        <p:blipFill>
          <a:blip r:embed="rId2"/>
          <a:srcRect l="24796" r="24796" t="0" b="0"/>
          <a:stretch/>
        </p:blipFill>
        <p:spPr>
          <a:xfrm>
            <a:off x="658368" y="1051560"/>
            <a:ext cx="4709160" cy="5257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" y="1051560"/>
            <a:ext cx="4709160" cy="5257800"/>
          </a:xfrm>
          <a:prstGeom prst="roundRect">
            <a:avLst>
              <a:gd name="adj" fmla="val 2330"/>
            </a:avLst>
          </a:prstGeom>
          <a:solidFill>
            <a:srgbClr val="000000">
              <a:alpha val="0"/>
            </a:srgbClr>
          </a:solidFill>
          <a:ln w="15240">
            <a:solidFill>
              <a:srgbClr val="1B2A44">
                <a:alpha val="95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33872" y="10972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Meet Sarah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5870448" y="19659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· Operations Manager · 16 years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5870448" y="2606040"/>
            <a:ext cx="2148840" cy="292608"/>
          </a:xfrm>
          <a:prstGeom prst="roundRect">
            <a:avLst>
              <a:gd name="adj" fmla="val 25000"/>
            </a:avLst>
          </a:prstGeom>
          <a:solidFill>
            <a:srgbClr val="F5B94C"/>
          </a:solidFill>
          <a:ln w="12700">
            <a:solidFill>
              <a:srgbClr val="F5B94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0" y="2670048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A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REDUNDANT IN MAY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870448" y="34015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Today, Sarah is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unemployed.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5888736" y="48006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capability did not disappear.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question is where it belongs next.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4"/>
          </a:solidFill>
          <a:ln w="12700">
            <a:solidFill>
              <a:srgbClr val="0208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1155680" cy="0"/>
          </a:xfrm>
          <a:prstGeom prst="line">
            <a:avLst/>
          </a:prstGeom>
          <a:noFill/>
          <a:ln w="8890">
            <a:solidFill>
              <a:srgbClr val="1B2A44">
                <a:alpha val="55000"/>
              </a:srgbClr>
            </a:solidFill>
            <a:prstDash val="solid"/>
          </a:ln>
        </p:spPr>
      </p:sp>
      <p:pic>
        <p:nvPicPr>
          <p:cNvPr id="4" name="Image 0" descr="/mnt/data/nextchapter_highres_assets/nextchapter_n_mark_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3272" y="5532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NextChapter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58368" y="89611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Sarah is more than her CV.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85800" y="15087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proof is in places a résumé never looks.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658368" y="2057400"/>
            <a:ext cx="3401568" cy="3886200"/>
          </a:xfrm>
          <a:prstGeom prst="roundRect">
            <a:avLst>
              <a:gd name="adj" fmla="val 3226"/>
            </a:avLst>
          </a:prstGeom>
          <a:solidFill>
            <a:srgbClr val="07111E">
              <a:alpha val="97000"/>
            </a:srgbClr>
          </a:solidFill>
          <a:ln w="12700">
            <a:solidFill>
              <a:srgbClr val="1B2A44">
                <a:alpha val="90000"/>
              </a:srgbClr>
            </a:solidFill>
            <a:prstDash val="solid"/>
          </a:ln>
        </p:spPr>
      </p:sp>
      <p:pic>
        <p:nvPicPr>
          <p:cNvPr id="9" name="Image 1" descr="/mnt/data/wide_cinematic_control_room_tech_operations_scen.png">    </p:cNvPr>
          <p:cNvPicPr>
            <a:picLocks noChangeAspect="1"/>
          </p:cNvPicPr>
          <p:nvPr/>
        </p:nvPicPr>
        <p:blipFill>
          <a:blip r:embed="rId2"/>
          <a:srcRect l="17358" r="17358" t="0" b="0"/>
          <a:stretch/>
        </p:blipFill>
        <p:spPr>
          <a:xfrm>
            <a:off x="768096" y="2167128"/>
            <a:ext cx="3182112" cy="274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5010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Before: operations leader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59536" y="5367528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reliable operations for 16 years.</a:t>
            </a:r>
            <a:endParaRPr lang="en-US" sz="1330" dirty="0"/>
          </a:p>
        </p:txBody>
      </p:sp>
      <p:sp>
        <p:nvSpPr>
          <p:cNvPr id="12" name="Shape 8"/>
          <p:cNvSpPr/>
          <p:nvPr/>
        </p:nvSpPr>
        <p:spPr>
          <a:xfrm>
            <a:off x="4389120" y="2057400"/>
            <a:ext cx="3401568" cy="3886200"/>
          </a:xfrm>
          <a:prstGeom prst="roundRect">
            <a:avLst>
              <a:gd name="adj" fmla="val 3226"/>
            </a:avLst>
          </a:prstGeom>
          <a:solidFill>
            <a:srgbClr val="07111E">
              <a:alpha val="97000"/>
            </a:srgbClr>
          </a:solidFill>
          <a:ln w="12700">
            <a:solidFill>
              <a:srgbClr val="1B2A44">
                <a:alpha val="90000"/>
              </a:srgbClr>
            </a:solidFill>
            <a:prstDash val="solid"/>
          </a:ln>
        </p:spPr>
      </p:sp>
      <p:pic>
        <p:nvPicPr>
          <p:cNvPr id="13" name="Image 2" descr="/mnt/data/a_cinematic_high_quality_digital_illustration_c.png">    </p:cNvPr>
          <p:cNvPicPr>
            <a:picLocks noChangeAspect="1"/>
          </p:cNvPicPr>
          <p:nvPr/>
        </p:nvPicPr>
        <p:blipFill>
          <a:blip r:embed="rId3"/>
          <a:srcRect l="17358" r="17358" t="0" b="0"/>
          <a:stretch/>
        </p:blipFill>
        <p:spPr>
          <a:xfrm>
            <a:off x="4498848" y="2167128"/>
            <a:ext cx="3182112" cy="274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0288" y="5010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person juniors ask for help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590288" y="5367528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Turns messy processes into teachable systems.</a:t>
            </a:r>
            <a:endParaRPr lang="en-US" sz="1330" dirty="0"/>
          </a:p>
        </p:txBody>
      </p:sp>
      <p:sp>
        <p:nvSpPr>
          <p:cNvPr id="16" name="Shape 11"/>
          <p:cNvSpPr/>
          <p:nvPr/>
        </p:nvSpPr>
        <p:spPr>
          <a:xfrm>
            <a:off x="8119872" y="2057400"/>
            <a:ext cx="3401568" cy="3886200"/>
          </a:xfrm>
          <a:prstGeom prst="roundRect">
            <a:avLst>
              <a:gd name="adj" fmla="val 3226"/>
            </a:avLst>
          </a:prstGeom>
          <a:solidFill>
            <a:srgbClr val="07111E">
              <a:alpha val="97000"/>
            </a:srgbClr>
          </a:solidFill>
          <a:ln w="12700">
            <a:solidFill>
              <a:srgbClr val="68461B">
                <a:alpha val="90000"/>
              </a:srgbClr>
            </a:solidFill>
            <a:prstDash val="solid"/>
          </a:ln>
        </p:spPr>
      </p:sp>
      <p:pic>
        <p:nvPicPr>
          <p:cNvPr id="17" name="Image 3" descr="/mnt/data/a_warm_cozy_semi_realistic_3d_rendered_indoor_ki.png">    </p:cNvPr>
          <p:cNvPicPr>
            <a:picLocks noChangeAspect="1"/>
          </p:cNvPicPr>
          <p:nvPr/>
        </p:nvPicPr>
        <p:blipFill>
          <a:blip r:embed="rId4"/>
          <a:srcRect l="17358" r="17358" t="0" b="0"/>
          <a:stretch/>
        </p:blipFill>
        <p:spPr>
          <a:xfrm>
            <a:off x="8229600" y="2167128"/>
            <a:ext cx="3182112" cy="2743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040" y="501091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5B9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CNY pineapple tart factory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321040" y="5367528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tins, batched, timed, quality-checked.</a:t>
            </a:r>
            <a:endParaRPr lang="en-US" sz="1330" dirty="0"/>
          </a:p>
        </p:txBody>
      </p:sp>
      <p:sp>
        <p:nvSpPr>
          <p:cNvPr id="20" name="Text 14"/>
          <p:cNvSpPr/>
          <p:nvPr/>
        </p:nvSpPr>
        <p:spPr>
          <a:xfrm>
            <a:off x="685800" y="626364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B9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of this appears on her CV.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4"/>
          </a:solidFill>
          <a:ln w="12700">
            <a:solidFill>
              <a:srgbClr val="0208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1155680" cy="0"/>
          </a:xfrm>
          <a:prstGeom prst="line">
            <a:avLst/>
          </a:prstGeom>
          <a:noFill/>
          <a:ln w="8890">
            <a:solidFill>
              <a:srgbClr val="1B2A44">
                <a:alpha val="55000"/>
              </a:srgbClr>
            </a:solidFill>
            <a:prstDash val="solid"/>
          </a:ln>
        </p:spPr>
      </p:sp>
      <p:pic>
        <p:nvPicPr>
          <p:cNvPr id="4" name="Image 0" descr="/mnt/data/nextchapter_highres_assets/nextchapter_n_mark_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3272" y="5532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NextChapter</a:t>
            </a:r>
            <a:endParaRPr lang="en-US" sz="1850" dirty="0"/>
          </a:p>
        </p:txBody>
      </p:sp>
      <p:pic>
        <p:nvPicPr>
          <p:cNvPr id="6" name="Image 1" descr="/mnt/data/a_dramatic_fantasy_space_inspired_digital_illustra.png">    </p:cNvPr>
          <p:cNvPicPr>
            <a:picLocks noChangeAspect="1"/>
          </p:cNvPicPr>
          <p:nvPr/>
        </p:nvPicPr>
        <p:blipFill>
          <a:blip r:embed="rId2"/>
          <a:srcRect l="16667" r="16667" t="0" b="0"/>
          <a:stretch/>
        </p:blipFill>
        <p:spPr>
          <a:xfrm>
            <a:off x="7452360" y="1143000"/>
            <a:ext cx="3794760" cy="3794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4672" y="1417320"/>
            <a:ext cx="6355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7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if AI could discover</a:t>
            </a:r>
            <a:endParaRPr lang="en-US" sz="4700" dirty="0"/>
          </a:p>
          <a:p>
            <a:pPr algn="l" indent="0" marL="0">
              <a:buNone/>
            </a:pPr>
            <a:r>
              <a:rPr lang="en-US" sz="47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founder hidden</a:t>
            </a:r>
            <a:endParaRPr lang="en-US" sz="4700" dirty="0"/>
          </a:p>
          <a:p>
            <a:pPr algn="l" indent="0" marL="0">
              <a:buNone/>
            </a:pPr>
            <a:r>
              <a:rPr lang="en-US" sz="47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inside Sarah?</a:t>
            </a:r>
            <a:endParaRPr lang="en-US" sz="4700" dirty="0"/>
          </a:p>
        </p:txBody>
      </p:sp>
      <p:sp>
        <p:nvSpPr>
          <p:cNvPr id="8" name="Text 4"/>
          <p:cNvSpPr/>
          <p:nvPr/>
        </p:nvSpPr>
        <p:spPr>
          <a:xfrm>
            <a:off x="841248" y="432511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just what job she can apply for.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company she could build.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841248" y="534924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F5AF5"/>
          </a:solidFill>
          <a:ln w="12700">
            <a:solidFill>
              <a:srgbClr val="2F5AF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541324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TO LIVE DEMO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4"/>
          </a:solidFill>
          <a:ln w="12700">
            <a:solidFill>
              <a:srgbClr val="0208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1155680" cy="0"/>
          </a:xfrm>
          <a:prstGeom prst="line">
            <a:avLst/>
          </a:prstGeom>
          <a:noFill/>
          <a:ln w="8890">
            <a:solidFill>
              <a:srgbClr val="1B2A44">
                <a:alpha val="55000"/>
              </a:srgbClr>
            </a:solidFill>
            <a:prstDash val="solid"/>
          </a:ln>
        </p:spPr>
      </p:sp>
      <p:pic>
        <p:nvPicPr>
          <p:cNvPr id="4" name="Image 0" descr="/mnt/data/nextchapter_highres_assets/nextchapter_n_mark_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3272" y="5532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NextChapter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85800" y="89611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B94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LIVE DEMO</a:t>
            </a:r>
            <a:endParaRPr lang="en-US" sz="3200" dirty="0"/>
          </a:p>
        </p:txBody>
      </p:sp>
      <p:pic>
        <p:nvPicPr>
          <p:cNvPr id="7" name="Image 1" descr="/mnt/data/a_dark_futuristic_saas_dashboard_ui_mockup_screen.png">    </p:cNvPr>
          <p:cNvPicPr>
            <a:picLocks noChangeAspect="1"/>
          </p:cNvPicPr>
          <p:nvPr/>
        </p:nvPicPr>
        <p:blipFill>
          <a:blip r:embed="rId2"/>
          <a:srcRect l="0" r="0" t="17405" b="17405"/>
          <a:stretch/>
        </p:blipFill>
        <p:spPr>
          <a:xfrm>
            <a:off x="685800" y="1536192"/>
            <a:ext cx="10835640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85800" y="1536192"/>
            <a:ext cx="10835640" cy="4709160"/>
          </a:xfrm>
          <a:prstGeom prst="roundRect">
            <a:avLst>
              <a:gd name="adj" fmla="val 2330"/>
            </a:avLst>
          </a:prstGeom>
          <a:solidFill>
            <a:srgbClr val="000000">
              <a:alpha val="0"/>
            </a:srgbClr>
          </a:solidFill>
          <a:ln w="15240">
            <a:solidFill>
              <a:srgbClr val="2F5AF5">
                <a:alpha val="5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49808" y="641908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→ discovery → hidden strength → business directions → honest verdict → live website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4"/>
          </a:solidFill>
          <a:ln w="12700">
            <a:solidFill>
              <a:srgbClr val="0208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1155680" cy="0"/>
          </a:xfrm>
          <a:prstGeom prst="line">
            <a:avLst/>
          </a:prstGeom>
          <a:noFill/>
          <a:ln w="8890">
            <a:solidFill>
              <a:srgbClr val="1B2A44">
                <a:alpha val="55000"/>
              </a:srgbClr>
            </a:solidFill>
            <a:prstDash val="solid"/>
          </a:ln>
        </p:spPr>
      </p:sp>
      <p:pic>
        <p:nvPicPr>
          <p:cNvPr id="4" name="Image 0" descr="/mnt/data/nextchapter_highres_assets/nextchapter_n_mark_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3272" y="5532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NextChapter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22960" y="1078992"/>
            <a:ext cx="5532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Get your own</a:t>
            </a:r>
            <a:endParaRPr lang="en-US" sz="4900" dirty="0"/>
          </a:p>
          <a:p>
            <a:pPr algn="l" indent="0" marL="0">
              <a:buNone/>
            </a:pPr>
            <a:r>
              <a:rPr lang="en-US" sz="49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Strength Map</a:t>
            </a:r>
            <a:endParaRPr lang="en-US" sz="4900" dirty="0"/>
          </a:p>
        </p:txBody>
      </p:sp>
      <p:sp>
        <p:nvSpPr>
          <p:cNvPr id="7" name="Text 4"/>
          <p:cNvSpPr/>
          <p:nvPr/>
        </p:nvSpPr>
        <p:spPr>
          <a:xfrm>
            <a:off x="859536" y="277977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now. Two minutes.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do not have to start a company today — but you should know what you are worth.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406640" y="932688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8FAFF"/>
          </a:solidFill>
          <a:ln w="12700">
            <a:solidFill>
              <a:srgbClr val="F8FAFF">
                <a:alpha val="90000"/>
              </a:srgbClr>
            </a:solidFill>
            <a:prstDash val="solid"/>
          </a:ln>
        </p:spPr>
      </p:sp>
      <p:pic>
        <p:nvPicPr>
          <p:cNvPr id="9" name="Image 1" descr="/mnt/data/nextchapter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1389888"/>
            <a:ext cx="2487168" cy="2487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1812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nextchapter.ai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8229600" y="461772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F5B94C"/>
          </a:solidFill>
          <a:ln w="12700">
            <a:solidFill>
              <a:srgbClr val="F5B94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302752" y="4681728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A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YOURS →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4"/>
          </a:solidFill>
          <a:ln w="12700">
            <a:solidFill>
              <a:srgbClr val="0208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1155680" cy="0"/>
          </a:xfrm>
          <a:prstGeom prst="line">
            <a:avLst/>
          </a:prstGeom>
          <a:noFill/>
          <a:ln w="8890">
            <a:solidFill>
              <a:srgbClr val="1B2A44">
                <a:alpha val="55000"/>
              </a:srgbClr>
            </a:solidFill>
            <a:prstDash val="solid"/>
          </a:ln>
        </p:spPr>
      </p:sp>
      <p:pic>
        <p:nvPicPr>
          <p:cNvPr id="4" name="Image 0" descr="/mnt/data/nextchapter_highres_assets/nextchapter_n_mark_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3272" y="5532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NextChapter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77240" y="9144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Agentic. Grounded. Honest.</a:t>
            </a:r>
            <a:endParaRPr lang="en-US" sz="4300" dirty="0"/>
          </a:p>
        </p:txBody>
      </p:sp>
      <p:sp>
        <p:nvSpPr>
          <p:cNvPr id="7" name="Shape 4"/>
          <p:cNvSpPr/>
          <p:nvPr/>
        </p:nvSpPr>
        <p:spPr>
          <a:xfrm>
            <a:off x="868680" y="2212848"/>
            <a:ext cx="658368" cy="658368"/>
          </a:xfrm>
          <a:prstGeom prst="ellipse">
            <a:avLst/>
          </a:prstGeom>
          <a:solidFill>
            <a:srgbClr val="2F5AF5">
              <a:alpha val="95000"/>
            </a:srgbClr>
          </a:solidFill>
          <a:ln w="15240">
            <a:solidFill>
              <a:srgbClr val="38C7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3865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21208" y="308152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</a:t>
            </a:r>
            <a:endParaRPr lang="en-US" sz="1420" dirty="0"/>
          </a:p>
        </p:txBody>
      </p:sp>
      <p:sp>
        <p:nvSpPr>
          <p:cNvPr id="10" name="Shape 7"/>
          <p:cNvSpPr/>
          <p:nvPr/>
        </p:nvSpPr>
        <p:spPr>
          <a:xfrm>
            <a:off x="1545336" y="2542032"/>
            <a:ext cx="978408" cy="0"/>
          </a:xfrm>
          <a:prstGeom prst="line">
            <a:avLst/>
          </a:prstGeom>
          <a:noFill/>
          <a:ln w="19050">
            <a:solidFill>
              <a:srgbClr val="1B2A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2212848"/>
            <a:ext cx="658368" cy="658368"/>
          </a:xfrm>
          <a:prstGeom prst="ellipse">
            <a:avLst/>
          </a:prstGeom>
          <a:solidFill>
            <a:srgbClr val="2F5AF5">
              <a:alpha val="95000"/>
            </a:srgbClr>
          </a:solidFill>
          <a:ln w="15240">
            <a:solidFill>
              <a:srgbClr val="38C7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88920" y="23865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212848" y="308152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3236976" y="2542032"/>
            <a:ext cx="978408" cy="0"/>
          </a:xfrm>
          <a:prstGeom prst="line">
            <a:avLst/>
          </a:prstGeom>
          <a:noFill/>
          <a:ln w="19050">
            <a:solidFill>
              <a:srgbClr val="1B2A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51960" y="2212848"/>
            <a:ext cx="658368" cy="658368"/>
          </a:xfrm>
          <a:prstGeom prst="ellipse">
            <a:avLst/>
          </a:prstGeom>
          <a:solidFill>
            <a:srgbClr val="2F5AF5">
              <a:alpha val="95000"/>
            </a:srgbClr>
          </a:solidFill>
          <a:ln w="15240">
            <a:solidFill>
              <a:srgbClr val="38C7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80560" y="23865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904488" y="308152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 Map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4928616" y="2542032"/>
            <a:ext cx="978408" cy="0"/>
          </a:xfrm>
          <a:prstGeom prst="line">
            <a:avLst/>
          </a:prstGeom>
          <a:noFill/>
          <a:ln w="19050">
            <a:solidFill>
              <a:srgbClr val="1B2A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0" y="2212848"/>
            <a:ext cx="658368" cy="658368"/>
          </a:xfrm>
          <a:prstGeom prst="ellipse">
            <a:avLst/>
          </a:prstGeom>
          <a:solidFill>
            <a:srgbClr val="F5B94C">
              <a:alpha val="95000"/>
            </a:srgbClr>
          </a:solidFill>
          <a:ln w="15240">
            <a:solidFill>
              <a:srgbClr val="F5B9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72200" y="23865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596128" y="308152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Directions</a:t>
            </a:r>
            <a:endParaRPr lang="en-US" sz="1420" dirty="0"/>
          </a:p>
        </p:txBody>
      </p:sp>
      <p:sp>
        <p:nvSpPr>
          <p:cNvPr id="22" name="Shape 19"/>
          <p:cNvSpPr/>
          <p:nvPr/>
        </p:nvSpPr>
        <p:spPr>
          <a:xfrm>
            <a:off x="6620256" y="2542032"/>
            <a:ext cx="978408" cy="0"/>
          </a:xfrm>
          <a:prstGeom prst="line">
            <a:avLst/>
          </a:prstGeom>
          <a:noFill/>
          <a:ln w="19050">
            <a:solidFill>
              <a:srgbClr val="1B2A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35240" y="2212848"/>
            <a:ext cx="658368" cy="658368"/>
          </a:xfrm>
          <a:prstGeom prst="ellipse">
            <a:avLst/>
          </a:prstGeom>
          <a:solidFill>
            <a:srgbClr val="F5B94C">
              <a:alpha val="95000"/>
            </a:srgbClr>
          </a:solidFill>
          <a:ln w="15240">
            <a:solidFill>
              <a:srgbClr val="F5B9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0" y="23865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287768" y="308152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</a:t>
            </a:r>
            <a:endParaRPr lang="en-US" sz="1420" dirty="0"/>
          </a:p>
        </p:txBody>
      </p:sp>
      <p:sp>
        <p:nvSpPr>
          <p:cNvPr id="26" name="Shape 23"/>
          <p:cNvSpPr/>
          <p:nvPr/>
        </p:nvSpPr>
        <p:spPr>
          <a:xfrm>
            <a:off x="8311896" y="2542032"/>
            <a:ext cx="978408" cy="0"/>
          </a:xfrm>
          <a:prstGeom prst="line">
            <a:avLst/>
          </a:prstGeom>
          <a:noFill/>
          <a:ln w="19050">
            <a:solidFill>
              <a:srgbClr val="1B2A4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326880" y="2212848"/>
            <a:ext cx="658368" cy="658368"/>
          </a:xfrm>
          <a:prstGeom prst="ellipse">
            <a:avLst/>
          </a:prstGeom>
          <a:solidFill>
            <a:srgbClr val="F5B94C">
              <a:alpha val="95000"/>
            </a:srgbClr>
          </a:solidFill>
          <a:ln w="15240">
            <a:solidFill>
              <a:srgbClr val="F5B9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55480" y="23865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979408" y="308152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</a:t>
            </a:r>
            <a:endParaRPr lang="en-US" sz="1420" dirty="0"/>
          </a:p>
        </p:txBody>
      </p:sp>
      <p:sp>
        <p:nvSpPr>
          <p:cNvPr id="30" name="Shape 27"/>
          <p:cNvSpPr/>
          <p:nvPr/>
        </p:nvSpPr>
        <p:spPr>
          <a:xfrm>
            <a:off x="868680" y="4590288"/>
            <a:ext cx="3246120" cy="1225296"/>
          </a:xfrm>
          <a:prstGeom prst="roundRect">
            <a:avLst>
              <a:gd name="adj" fmla="val 8955"/>
            </a:avLst>
          </a:prstGeom>
          <a:solidFill>
            <a:srgbClr val="07111E">
              <a:alpha val="97000"/>
            </a:srgbClr>
          </a:solidFill>
          <a:ln w="12700">
            <a:solidFill>
              <a:srgbClr val="1B2A44">
                <a:alpha val="9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78992" y="47914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1078992" y="52120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agents work in sequence, from profile to launch.</a:t>
            </a:r>
            <a:endParaRPr lang="en-US" sz="1320" dirty="0"/>
          </a:p>
        </p:txBody>
      </p:sp>
      <p:sp>
        <p:nvSpPr>
          <p:cNvPr id="33" name="Shape 30"/>
          <p:cNvSpPr/>
          <p:nvPr/>
        </p:nvSpPr>
        <p:spPr>
          <a:xfrm>
            <a:off x="4572000" y="4590288"/>
            <a:ext cx="3246120" cy="1225296"/>
          </a:xfrm>
          <a:prstGeom prst="roundRect">
            <a:avLst>
              <a:gd name="adj" fmla="val 8955"/>
            </a:avLst>
          </a:prstGeom>
          <a:solidFill>
            <a:srgbClr val="07111E">
              <a:alpha val="97000"/>
            </a:srgbClr>
          </a:solidFill>
          <a:ln w="12700">
            <a:solidFill>
              <a:srgbClr val="1B2A44">
                <a:alpha val="9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82312" y="47914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4782312" y="52120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uses flow, self-determination theory, career anchors and Holland codes.</a:t>
            </a:r>
            <a:endParaRPr lang="en-US" sz="1320" dirty="0"/>
          </a:p>
        </p:txBody>
      </p:sp>
      <p:sp>
        <p:nvSpPr>
          <p:cNvPr id="36" name="Shape 33"/>
          <p:cNvSpPr/>
          <p:nvPr/>
        </p:nvSpPr>
        <p:spPr>
          <a:xfrm>
            <a:off x="8275320" y="4590288"/>
            <a:ext cx="3246120" cy="1225296"/>
          </a:xfrm>
          <a:prstGeom prst="roundRect">
            <a:avLst>
              <a:gd name="adj" fmla="val 8955"/>
            </a:avLst>
          </a:prstGeom>
          <a:solidFill>
            <a:srgbClr val="07111E">
              <a:alpha val="97000"/>
            </a:srgbClr>
          </a:solidFill>
          <a:ln w="12700">
            <a:solidFill>
              <a:srgbClr val="68461B">
                <a:alpha val="9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85632" y="47914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B9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8485632" y="52120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viability engine challenges weak ideas instead of flattering the user.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4"/>
          </a:solidFill>
          <a:ln w="12700">
            <a:solidFill>
              <a:srgbClr val="0208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1155680" cy="0"/>
          </a:xfrm>
          <a:prstGeom prst="line">
            <a:avLst/>
          </a:prstGeom>
          <a:noFill/>
          <a:ln w="8890">
            <a:solidFill>
              <a:srgbClr val="1B2A44">
                <a:alpha val="55000"/>
              </a:srgbClr>
            </a:solidFill>
            <a:prstDash val="solid"/>
          </a:ln>
        </p:spPr>
      </p:sp>
      <p:pic>
        <p:nvPicPr>
          <p:cNvPr id="4" name="Image 0" descr="/mnt/data/nextchapter_highres_assets/nextchapter_n_mark_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3272" y="5532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NextChapter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77240" y="1115568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Free insight.</a:t>
            </a:r>
            <a:endParaRPr lang="en-US" sz="4300" dirty="0"/>
          </a:p>
          <a:p>
            <a:pPr algn="l" indent="0" marL="0">
              <a:buNone/>
            </a:pPr>
            <a:r>
              <a:rPr lang="en-US" sz="43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Paid launch.</a:t>
            </a:r>
            <a:endParaRPr lang="en-US" sz="4300" dirty="0"/>
          </a:p>
          <a:p>
            <a:pPr algn="l" indent="0" marL="0">
              <a:buNone/>
            </a:pPr>
            <a:r>
              <a:rPr lang="en-US" sz="43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B2B transition.</a:t>
            </a:r>
            <a:endParaRPr lang="en-US" sz="4300" dirty="0"/>
          </a:p>
        </p:txBody>
      </p:sp>
      <p:sp>
        <p:nvSpPr>
          <p:cNvPr id="7" name="Shape 4"/>
          <p:cNvSpPr/>
          <p:nvPr/>
        </p:nvSpPr>
        <p:spPr>
          <a:xfrm>
            <a:off x="868680" y="2852928"/>
            <a:ext cx="3246120" cy="1389888"/>
          </a:xfrm>
          <a:prstGeom prst="roundRect">
            <a:avLst>
              <a:gd name="adj" fmla="val 7895"/>
            </a:avLst>
          </a:prstGeom>
          <a:solidFill>
            <a:srgbClr val="07111E">
              <a:alpha val="97000"/>
            </a:srgbClr>
          </a:solidFill>
          <a:ln w="12700">
            <a:solidFill>
              <a:srgbClr val="1B2A44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30723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B9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Strength Map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78992" y="35204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shareable insight card that brings users in.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2852928"/>
            <a:ext cx="3246120" cy="1389888"/>
          </a:xfrm>
          <a:prstGeom prst="roundRect">
            <a:avLst>
              <a:gd name="adj" fmla="val 7895"/>
            </a:avLst>
          </a:prstGeom>
          <a:solidFill>
            <a:srgbClr val="07111E">
              <a:alpha val="97000"/>
            </a:srgbClr>
          </a:solidFill>
          <a:ln w="12700">
            <a:solidFill>
              <a:srgbClr val="1B2A44">
                <a:alpha val="9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82312" y="30723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S$49 Launch Kit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782312" y="35204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Website, offer, pricing, intake form and first proposal.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75320" y="2852928"/>
            <a:ext cx="3246120" cy="1389888"/>
          </a:xfrm>
          <a:prstGeom prst="roundRect">
            <a:avLst>
              <a:gd name="adj" fmla="val 7895"/>
            </a:avLst>
          </a:prstGeom>
          <a:solidFill>
            <a:srgbClr val="07111E">
              <a:alpha val="97000"/>
            </a:srgbClr>
          </a:solidFill>
          <a:ln w="12700">
            <a:solidFill>
              <a:srgbClr val="68461B">
                <a:alpha val="9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85632" y="30723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Channel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485632" y="35204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Outplacement firms, employers and workforce-transition partners.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828800" y="5074920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B94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founder + agents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5B94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= the next company.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4"/>
          </a:solidFill>
          <a:ln w="12700">
            <a:solidFill>
              <a:srgbClr val="0208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11155680" cy="0"/>
          </a:xfrm>
          <a:prstGeom prst="line">
            <a:avLst/>
          </a:prstGeom>
          <a:noFill/>
          <a:ln w="8890">
            <a:solidFill>
              <a:srgbClr val="1B2A44">
                <a:alpha val="55000"/>
              </a:srgbClr>
            </a:solidFill>
            <a:prstDash val="solid"/>
          </a:ln>
        </p:spPr>
      </p:sp>
      <p:pic>
        <p:nvPicPr>
          <p:cNvPr id="4" name="Image 0" descr="/mnt/data/nextchapter_highres_assets/nextchapter_n_mark_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896112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359152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 do not build tools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8FA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for one-person companies.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005840" y="34015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B94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 build the companies.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005840" y="51389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Sheryl Deng · OpenArena Track 05 · NextChapter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ricolage Grotesq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NextChapter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NextChapter Hackathon Demo</dc:title>
  <dc:subject>NextChapter hackathon 3-minute demo</dc:subject>
  <dc:creator>Sheryl Deng</dc:creator>
  <cp:lastModifiedBy>Sheryl Deng</cp:lastModifiedBy>
  <cp:revision>1</cp:revision>
  <dcterms:created xsi:type="dcterms:W3CDTF">2026-07-12T06:17:52Z</dcterms:created>
  <dcterms:modified xsi:type="dcterms:W3CDTF">2026-07-12T06:17:52Z</dcterms:modified>
</cp:coreProperties>
</file>